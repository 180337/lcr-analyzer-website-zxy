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1" r:id="rId5"/>
    <p:sldId id="264" r:id="rId6"/>
    <p:sldId id="259" r:id="rId7"/>
    <p:sldId id="262" r:id="rId8"/>
    <p:sldId id="2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674"/>
  </p:normalViewPr>
  <p:slideViewPr>
    <p:cSldViewPr snapToGrid="0">
      <p:cViewPr varScale="1">
        <p:scale>
          <a:sx n="124" d="100"/>
          <a:sy n="124" d="100"/>
        </p:scale>
        <p:origin x="8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FA8C8F-E51F-D6C9-A339-2E4C09CB61DA}"/>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1046FCAA-D78B-8199-6CEC-BD703DFB56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D6E82201-E7F6-E7DC-F96F-196D468EE25B}"/>
              </a:ext>
            </a:extLst>
          </p:cNvPr>
          <p:cNvSpPr>
            <a:spLocks noGrp="1"/>
          </p:cNvSpPr>
          <p:nvPr>
            <p:ph type="dt" sz="half" idx="10"/>
          </p:nvPr>
        </p:nvSpPr>
        <p:spPr/>
        <p:txBody>
          <a:bodyPr/>
          <a:lstStyle/>
          <a:p>
            <a:fld id="{043CE96E-42BC-C14B-9257-00629B036FC2}" type="datetimeFigureOut">
              <a:rPr kumimoji="1" lang="zh-CN" altLang="en-US" smtClean="0"/>
              <a:t>2026/9/18</a:t>
            </a:fld>
            <a:endParaRPr kumimoji="1" lang="zh-CN" altLang="en-US"/>
          </a:p>
        </p:txBody>
      </p:sp>
      <p:sp>
        <p:nvSpPr>
          <p:cNvPr id="5" name="页脚占位符 4">
            <a:extLst>
              <a:ext uri="{FF2B5EF4-FFF2-40B4-BE49-F238E27FC236}">
                <a16:creationId xmlns:a16="http://schemas.microsoft.com/office/drawing/2014/main" id="{1A701837-E2B3-E818-3A0B-59C7F92FB53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2483C7A-BAA1-A9BD-A855-1CE40B62181C}"/>
              </a:ext>
            </a:extLst>
          </p:cNvPr>
          <p:cNvSpPr>
            <a:spLocks noGrp="1"/>
          </p:cNvSpPr>
          <p:nvPr>
            <p:ph type="sldNum" sz="quarter" idx="12"/>
          </p:nvPr>
        </p:nvSpPr>
        <p:spPr/>
        <p:txBody>
          <a:bodyPr/>
          <a:lstStyle/>
          <a:p>
            <a:fld id="{69C2B196-CD45-FE47-9286-9C733E074839}" type="slidenum">
              <a:rPr kumimoji="1" lang="zh-CN" altLang="en-US" smtClean="0"/>
              <a:t>‹#›</a:t>
            </a:fld>
            <a:endParaRPr kumimoji="1" lang="zh-CN" altLang="en-US"/>
          </a:p>
        </p:txBody>
      </p:sp>
    </p:spTree>
    <p:extLst>
      <p:ext uri="{BB962C8B-B14F-4D97-AF65-F5344CB8AC3E}">
        <p14:creationId xmlns:p14="http://schemas.microsoft.com/office/powerpoint/2010/main" val="382955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DD55A0-0329-F3A2-CABC-E02E8E60884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26E8EDE-4597-E148-A754-A4140B218A73}"/>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9547D6D-3D3F-56FB-E1D1-7CA15F342B6A}"/>
              </a:ext>
            </a:extLst>
          </p:cNvPr>
          <p:cNvSpPr>
            <a:spLocks noGrp="1"/>
          </p:cNvSpPr>
          <p:nvPr>
            <p:ph type="dt" sz="half" idx="10"/>
          </p:nvPr>
        </p:nvSpPr>
        <p:spPr/>
        <p:txBody>
          <a:bodyPr/>
          <a:lstStyle/>
          <a:p>
            <a:fld id="{043CE96E-42BC-C14B-9257-00629B036FC2}" type="datetimeFigureOut">
              <a:rPr kumimoji="1" lang="zh-CN" altLang="en-US" smtClean="0"/>
              <a:t>2026/9/18</a:t>
            </a:fld>
            <a:endParaRPr kumimoji="1" lang="zh-CN" altLang="en-US"/>
          </a:p>
        </p:txBody>
      </p:sp>
      <p:sp>
        <p:nvSpPr>
          <p:cNvPr id="5" name="页脚占位符 4">
            <a:extLst>
              <a:ext uri="{FF2B5EF4-FFF2-40B4-BE49-F238E27FC236}">
                <a16:creationId xmlns:a16="http://schemas.microsoft.com/office/drawing/2014/main" id="{5146756E-261D-C388-6204-4DD78FAFDCD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5185150-9FB9-5405-BCCF-662661591E54}"/>
              </a:ext>
            </a:extLst>
          </p:cNvPr>
          <p:cNvSpPr>
            <a:spLocks noGrp="1"/>
          </p:cNvSpPr>
          <p:nvPr>
            <p:ph type="sldNum" sz="quarter" idx="12"/>
          </p:nvPr>
        </p:nvSpPr>
        <p:spPr/>
        <p:txBody>
          <a:bodyPr/>
          <a:lstStyle/>
          <a:p>
            <a:fld id="{69C2B196-CD45-FE47-9286-9C733E074839}" type="slidenum">
              <a:rPr kumimoji="1" lang="zh-CN" altLang="en-US" smtClean="0"/>
              <a:t>‹#›</a:t>
            </a:fld>
            <a:endParaRPr kumimoji="1" lang="zh-CN" altLang="en-US"/>
          </a:p>
        </p:txBody>
      </p:sp>
    </p:spTree>
    <p:extLst>
      <p:ext uri="{BB962C8B-B14F-4D97-AF65-F5344CB8AC3E}">
        <p14:creationId xmlns:p14="http://schemas.microsoft.com/office/powerpoint/2010/main" val="3875203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8F5DEE-4050-9E9D-9F1D-A81B8352EA6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023D3A36-69C8-AA01-0E74-1AC9623A43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34D2D4-310C-C367-4860-0847166ACB25}"/>
              </a:ext>
            </a:extLst>
          </p:cNvPr>
          <p:cNvSpPr>
            <a:spLocks noGrp="1"/>
          </p:cNvSpPr>
          <p:nvPr>
            <p:ph type="dt" sz="half" idx="10"/>
          </p:nvPr>
        </p:nvSpPr>
        <p:spPr/>
        <p:txBody>
          <a:bodyPr/>
          <a:lstStyle/>
          <a:p>
            <a:fld id="{043CE96E-42BC-C14B-9257-00629B036FC2}" type="datetimeFigureOut">
              <a:rPr kumimoji="1" lang="zh-CN" altLang="en-US" smtClean="0"/>
              <a:t>2026/9/18</a:t>
            </a:fld>
            <a:endParaRPr kumimoji="1" lang="zh-CN" altLang="en-US"/>
          </a:p>
        </p:txBody>
      </p:sp>
      <p:sp>
        <p:nvSpPr>
          <p:cNvPr id="5" name="页脚占位符 4">
            <a:extLst>
              <a:ext uri="{FF2B5EF4-FFF2-40B4-BE49-F238E27FC236}">
                <a16:creationId xmlns:a16="http://schemas.microsoft.com/office/drawing/2014/main" id="{2756F087-7A1A-DCF4-8955-230A00A5734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CDBA11A-B9C7-6F6D-A31B-E97655F8B018}"/>
              </a:ext>
            </a:extLst>
          </p:cNvPr>
          <p:cNvSpPr>
            <a:spLocks noGrp="1"/>
          </p:cNvSpPr>
          <p:nvPr>
            <p:ph type="sldNum" sz="quarter" idx="12"/>
          </p:nvPr>
        </p:nvSpPr>
        <p:spPr/>
        <p:txBody>
          <a:bodyPr/>
          <a:lstStyle/>
          <a:p>
            <a:fld id="{69C2B196-CD45-FE47-9286-9C733E074839}" type="slidenum">
              <a:rPr kumimoji="1" lang="zh-CN" altLang="en-US" smtClean="0"/>
              <a:t>‹#›</a:t>
            </a:fld>
            <a:endParaRPr kumimoji="1" lang="zh-CN" altLang="en-US"/>
          </a:p>
        </p:txBody>
      </p:sp>
    </p:spTree>
    <p:extLst>
      <p:ext uri="{BB962C8B-B14F-4D97-AF65-F5344CB8AC3E}">
        <p14:creationId xmlns:p14="http://schemas.microsoft.com/office/powerpoint/2010/main" val="871466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BF965A-C0E1-C525-7B61-B38C325F485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FA02AFA-31A5-7227-13D0-8B497DB44B3A}"/>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FC2766FC-032B-70FF-E480-1EE45FFD75AA}"/>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92CFB7AF-B49B-AA44-272C-3D409ACB46CC}"/>
              </a:ext>
            </a:extLst>
          </p:cNvPr>
          <p:cNvSpPr>
            <a:spLocks noGrp="1"/>
          </p:cNvSpPr>
          <p:nvPr>
            <p:ph type="dt" sz="half" idx="10"/>
          </p:nvPr>
        </p:nvSpPr>
        <p:spPr/>
        <p:txBody>
          <a:bodyPr/>
          <a:lstStyle/>
          <a:p>
            <a:fld id="{043CE96E-42BC-C14B-9257-00629B036FC2}" type="datetimeFigureOut">
              <a:rPr kumimoji="1" lang="zh-CN" altLang="en-US" smtClean="0"/>
              <a:t>2026/9/18</a:t>
            </a:fld>
            <a:endParaRPr kumimoji="1" lang="zh-CN" altLang="en-US"/>
          </a:p>
        </p:txBody>
      </p:sp>
      <p:sp>
        <p:nvSpPr>
          <p:cNvPr id="6" name="页脚占位符 5">
            <a:extLst>
              <a:ext uri="{FF2B5EF4-FFF2-40B4-BE49-F238E27FC236}">
                <a16:creationId xmlns:a16="http://schemas.microsoft.com/office/drawing/2014/main" id="{A89BA4F2-9F36-624E-EBC3-ABB211FFC02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294D9F3-71EE-FE11-6C62-88E747BDF561}"/>
              </a:ext>
            </a:extLst>
          </p:cNvPr>
          <p:cNvSpPr>
            <a:spLocks noGrp="1"/>
          </p:cNvSpPr>
          <p:nvPr>
            <p:ph type="sldNum" sz="quarter" idx="12"/>
          </p:nvPr>
        </p:nvSpPr>
        <p:spPr/>
        <p:txBody>
          <a:bodyPr/>
          <a:lstStyle/>
          <a:p>
            <a:fld id="{69C2B196-CD45-FE47-9286-9C733E074839}" type="slidenum">
              <a:rPr kumimoji="1" lang="zh-CN" altLang="en-US" smtClean="0"/>
              <a:t>‹#›</a:t>
            </a:fld>
            <a:endParaRPr kumimoji="1" lang="zh-CN" altLang="en-US"/>
          </a:p>
        </p:txBody>
      </p:sp>
    </p:spTree>
    <p:extLst>
      <p:ext uri="{BB962C8B-B14F-4D97-AF65-F5344CB8AC3E}">
        <p14:creationId xmlns:p14="http://schemas.microsoft.com/office/powerpoint/2010/main" val="2500814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ED9DDB-DA57-3C1D-CA57-3732C2C8062A}"/>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46DF61F-1F8B-6CE6-FE0F-C338801627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28B097B-1544-6EA8-6282-445060BDF2EB}"/>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A9383E16-0676-4CB2-5C05-3C96B5BD5F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A4185D6-92A1-9AAB-78F7-FB993D8A2B02}"/>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D9F5303-B617-307B-06DD-C27A7015833C}"/>
              </a:ext>
            </a:extLst>
          </p:cNvPr>
          <p:cNvSpPr>
            <a:spLocks noGrp="1"/>
          </p:cNvSpPr>
          <p:nvPr>
            <p:ph type="dt" sz="half" idx="10"/>
          </p:nvPr>
        </p:nvSpPr>
        <p:spPr/>
        <p:txBody>
          <a:bodyPr/>
          <a:lstStyle/>
          <a:p>
            <a:fld id="{043CE96E-42BC-C14B-9257-00629B036FC2}" type="datetimeFigureOut">
              <a:rPr kumimoji="1" lang="zh-CN" altLang="en-US" smtClean="0"/>
              <a:t>2026/9/18</a:t>
            </a:fld>
            <a:endParaRPr kumimoji="1" lang="zh-CN" altLang="en-US"/>
          </a:p>
        </p:txBody>
      </p:sp>
      <p:sp>
        <p:nvSpPr>
          <p:cNvPr id="8" name="页脚占位符 7">
            <a:extLst>
              <a:ext uri="{FF2B5EF4-FFF2-40B4-BE49-F238E27FC236}">
                <a16:creationId xmlns:a16="http://schemas.microsoft.com/office/drawing/2014/main" id="{E5694656-52FE-3132-0F77-9D90132B1503}"/>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575C9D61-73FD-5ED1-5AC8-3A35A9587732}"/>
              </a:ext>
            </a:extLst>
          </p:cNvPr>
          <p:cNvSpPr>
            <a:spLocks noGrp="1"/>
          </p:cNvSpPr>
          <p:nvPr>
            <p:ph type="sldNum" sz="quarter" idx="12"/>
          </p:nvPr>
        </p:nvSpPr>
        <p:spPr/>
        <p:txBody>
          <a:bodyPr/>
          <a:lstStyle/>
          <a:p>
            <a:fld id="{69C2B196-CD45-FE47-9286-9C733E074839}" type="slidenum">
              <a:rPr kumimoji="1" lang="zh-CN" altLang="en-US" smtClean="0"/>
              <a:t>‹#›</a:t>
            </a:fld>
            <a:endParaRPr kumimoji="1" lang="zh-CN" altLang="en-US"/>
          </a:p>
        </p:txBody>
      </p:sp>
    </p:spTree>
    <p:extLst>
      <p:ext uri="{BB962C8B-B14F-4D97-AF65-F5344CB8AC3E}">
        <p14:creationId xmlns:p14="http://schemas.microsoft.com/office/powerpoint/2010/main" val="1911636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EE7CB5-A58F-453D-0BA1-485DF4AF6AB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A903F47E-AA1C-3873-4D63-11CD3224A36A}"/>
              </a:ext>
            </a:extLst>
          </p:cNvPr>
          <p:cNvSpPr>
            <a:spLocks noGrp="1"/>
          </p:cNvSpPr>
          <p:nvPr>
            <p:ph type="dt" sz="half" idx="10"/>
          </p:nvPr>
        </p:nvSpPr>
        <p:spPr/>
        <p:txBody>
          <a:bodyPr/>
          <a:lstStyle/>
          <a:p>
            <a:fld id="{043CE96E-42BC-C14B-9257-00629B036FC2}" type="datetimeFigureOut">
              <a:rPr kumimoji="1" lang="zh-CN" altLang="en-US" smtClean="0"/>
              <a:t>2026/9/18</a:t>
            </a:fld>
            <a:endParaRPr kumimoji="1" lang="zh-CN" altLang="en-US"/>
          </a:p>
        </p:txBody>
      </p:sp>
      <p:sp>
        <p:nvSpPr>
          <p:cNvPr id="4" name="页脚占位符 3">
            <a:extLst>
              <a:ext uri="{FF2B5EF4-FFF2-40B4-BE49-F238E27FC236}">
                <a16:creationId xmlns:a16="http://schemas.microsoft.com/office/drawing/2014/main" id="{B5390C12-F66D-1410-D28E-E57578475811}"/>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EA6C69DD-71CC-AE14-A0B3-7DD4ADB80D35}"/>
              </a:ext>
            </a:extLst>
          </p:cNvPr>
          <p:cNvSpPr>
            <a:spLocks noGrp="1"/>
          </p:cNvSpPr>
          <p:nvPr>
            <p:ph type="sldNum" sz="quarter" idx="12"/>
          </p:nvPr>
        </p:nvSpPr>
        <p:spPr/>
        <p:txBody>
          <a:bodyPr/>
          <a:lstStyle/>
          <a:p>
            <a:fld id="{69C2B196-CD45-FE47-9286-9C733E074839}" type="slidenum">
              <a:rPr kumimoji="1" lang="zh-CN" altLang="en-US" smtClean="0"/>
              <a:t>‹#›</a:t>
            </a:fld>
            <a:endParaRPr kumimoji="1" lang="zh-CN" altLang="en-US"/>
          </a:p>
        </p:txBody>
      </p:sp>
    </p:spTree>
    <p:extLst>
      <p:ext uri="{BB962C8B-B14F-4D97-AF65-F5344CB8AC3E}">
        <p14:creationId xmlns:p14="http://schemas.microsoft.com/office/powerpoint/2010/main" val="772574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1E4EF41-8AF4-9355-88C7-1F5ACE3A7066}"/>
              </a:ext>
            </a:extLst>
          </p:cNvPr>
          <p:cNvSpPr>
            <a:spLocks noGrp="1"/>
          </p:cNvSpPr>
          <p:nvPr>
            <p:ph type="dt" sz="half" idx="10"/>
          </p:nvPr>
        </p:nvSpPr>
        <p:spPr/>
        <p:txBody>
          <a:bodyPr/>
          <a:lstStyle/>
          <a:p>
            <a:fld id="{043CE96E-42BC-C14B-9257-00629B036FC2}" type="datetimeFigureOut">
              <a:rPr kumimoji="1" lang="zh-CN" altLang="en-US" smtClean="0"/>
              <a:t>2026/9/18</a:t>
            </a:fld>
            <a:endParaRPr kumimoji="1" lang="zh-CN" altLang="en-US"/>
          </a:p>
        </p:txBody>
      </p:sp>
      <p:sp>
        <p:nvSpPr>
          <p:cNvPr id="3" name="页脚占位符 2">
            <a:extLst>
              <a:ext uri="{FF2B5EF4-FFF2-40B4-BE49-F238E27FC236}">
                <a16:creationId xmlns:a16="http://schemas.microsoft.com/office/drawing/2014/main" id="{5ABEDC84-B444-0C30-4529-05ECF8C1546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BC6BAF25-FCE6-4C81-816C-17B6146CAE43}"/>
              </a:ext>
            </a:extLst>
          </p:cNvPr>
          <p:cNvSpPr>
            <a:spLocks noGrp="1"/>
          </p:cNvSpPr>
          <p:nvPr>
            <p:ph type="sldNum" sz="quarter" idx="12"/>
          </p:nvPr>
        </p:nvSpPr>
        <p:spPr/>
        <p:txBody>
          <a:bodyPr/>
          <a:lstStyle/>
          <a:p>
            <a:fld id="{69C2B196-CD45-FE47-9286-9C733E074839}" type="slidenum">
              <a:rPr kumimoji="1" lang="zh-CN" altLang="en-US" smtClean="0"/>
              <a:t>‹#›</a:t>
            </a:fld>
            <a:endParaRPr kumimoji="1" lang="zh-CN" altLang="en-US"/>
          </a:p>
        </p:txBody>
      </p:sp>
    </p:spTree>
    <p:extLst>
      <p:ext uri="{BB962C8B-B14F-4D97-AF65-F5344CB8AC3E}">
        <p14:creationId xmlns:p14="http://schemas.microsoft.com/office/powerpoint/2010/main" val="3473666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F478FA-5FF4-4DB2-A3BA-3F12CE493BF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5F10D6E-01F3-25D7-9B29-65A2AEF8A1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A6C4A094-917D-663F-652D-8C70D889C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830B21E0-F5D4-2C97-4264-D80214700D80}"/>
              </a:ext>
            </a:extLst>
          </p:cNvPr>
          <p:cNvSpPr>
            <a:spLocks noGrp="1"/>
          </p:cNvSpPr>
          <p:nvPr>
            <p:ph type="dt" sz="half" idx="10"/>
          </p:nvPr>
        </p:nvSpPr>
        <p:spPr/>
        <p:txBody>
          <a:bodyPr/>
          <a:lstStyle/>
          <a:p>
            <a:fld id="{043CE96E-42BC-C14B-9257-00629B036FC2}" type="datetimeFigureOut">
              <a:rPr kumimoji="1" lang="zh-CN" altLang="en-US" smtClean="0"/>
              <a:t>2026/9/18</a:t>
            </a:fld>
            <a:endParaRPr kumimoji="1" lang="zh-CN" altLang="en-US"/>
          </a:p>
        </p:txBody>
      </p:sp>
      <p:sp>
        <p:nvSpPr>
          <p:cNvPr id="6" name="页脚占位符 5">
            <a:extLst>
              <a:ext uri="{FF2B5EF4-FFF2-40B4-BE49-F238E27FC236}">
                <a16:creationId xmlns:a16="http://schemas.microsoft.com/office/drawing/2014/main" id="{8530B890-DEC6-A4A1-E72B-4D7EB0B123F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F19165D-94AF-0025-CA64-1577D3E44413}"/>
              </a:ext>
            </a:extLst>
          </p:cNvPr>
          <p:cNvSpPr>
            <a:spLocks noGrp="1"/>
          </p:cNvSpPr>
          <p:nvPr>
            <p:ph type="sldNum" sz="quarter" idx="12"/>
          </p:nvPr>
        </p:nvSpPr>
        <p:spPr/>
        <p:txBody>
          <a:bodyPr/>
          <a:lstStyle/>
          <a:p>
            <a:fld id="{69C2B196-CD45-FE47-9286-9C733E074839}" type="slidenum">
              <a:rPr kumimoji="1" lang="zh-CN" altLang="en-US" smtClean="0"/>
              <a:t>‹#›</a:t>
            </a:fld>
            <a:endParaRPr kumimoji="1" lang="zh-CN" altLang="en-US"/>
          </a:p>
        </p:txBody>
      </p:sp>
    </p:spTree>
    <p:extLst>
      <p:ext uri="{BB962C8B-B14F-4D97-AF65-F5344CB8AC3E}">
        <p14:creationId xmlns:p14="http://schemas.microsoft.com/office/powerpoint/2010/main" val="22913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5E3C05-2E6A-94A6-0E8D-5AE34BBE56E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C3B342CB-23F7-2F6F-214D-485A33853E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16B7353C-067B-CE1F-47A4-95BDA613FD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60959BE-8EEA-9342-3B3A-4B40D560350D}"/>
              </a:ext>
            </a:extLst>
          </p:cNvPr>
          <p:cNvSpPr>
            <a:spLocks noGrp="1"/>
          </p:cNvSpPr>
          <p:nvPr>
            <p:ph type="dt" sz="half" idx="10"/>
          </p:nvPr>
        </p:nvSpPr>
        <p:spPr/>
        <p:txBody>
          <a:bodyPr/>
          <a:lstStyle/>
          <a:p>
            <a:fld id="{043CE96E-42BC-C14B-9257-00629B036FC2}" type="datetimeFigureOut">
              <a:rPr kumimoji="1" lang="zh-CN" altLang="en-US" smtClean="0"/>
              <a:t>2026/9/18</a:t>
            </a:fld>
            <a:endParaRPr kumimoji="1" lang="zh-CN" altLang="en-US"/>
          </a:p>
        </p:txBody>
      </p:sp>
      <p:sp>
        <p:nvSpPr>
          <p:cNvPr id="6" name="页脚占位符 5">
            <a:extLst>
              <a:ext uri="{FF2B5EF4-FFF2-40B4-BE49-F238E27FC236}">
                <a16:creationId xmlns:a16="http://schemas.microsoft.com/office/drawing/2014/main" id="{3E73ED98-B9A5-C127-2DC3-28EEA80D5D6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052EDE9-FE6D-7028-3C02-4B48D39F45EC}"/>
              </a:ext>
            </a:extLst>
          </p:cNvPr>
          <p:cNvSpPr>
            <a:spLocks noGrp="1"/>
          </p:cNvSpPr>
          <p:nvPr>
            <p:ph type="sldNum" sz="quarter" idx="12"/>
          </p:nvPr>
        </p:nvSpPr>
        <p:spPr/>
        <p:txBody>
          <a:bodyPr/>
          <a:lstStyle/>
          <a:p>
            <a:fld id="{69C2B196-CD45-FE47-9286-9C733E074839}" type="slidenum">
              <a:rPr kumimoji="1" lang="zh-CN" altLang="en-US" smtClean="0"/>
              <a:t>‹#›</a:t>
            </a:fld>
            <a:endParaRPr kumimoji="1" lang="zh-CN" altLang="en-US"/>
          </a:p>
        </p:txBody>
      </p:sp>
    </p:spTree>
    <p:extLst>
      <p:ext uri="{BB962C8B-B14F-4D97-AF65-F5344CB8AC3E}">
        <p14:creationId xmlns:p14="http://schemas.microsoft.com/office/powerpoint/2010/main" val="3065789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ACF2EA-15EC-20A6-B338-DAA9A13940F9}"/>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BC8562DF-FB83-161E-0662-2A680C60A268}"/>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475D800-4F26-F316-E576-7A68756CFB90}"/>
              </a:ext>
            </a:extLst>
          </p:cNvPr>
          <p:cNvSpPr>
            <a:spLocks noGrp="1"/>
          </p:cNvSpPr>
          <p:nvPr>
            <p:ph type="dt" sz="half" idx="10"/>
          </p:nvPr>
        </p:nvSpPr>
        <p:spPr/>
        <p:txBody>
          <a:bodyPr/>
          <a:lstStyle/>
          <a:p>
            <a:fld id="{043CE96E-42BC-C14B-9257-00629B036FC2}" type="datetimeFigureOut">
              <a:rPr kumimoji="1" lang="zh-CN" altLang="en-US" smtClean="0"/>
              <a:t>2026/9/18</a:t>
            </a:fld>
            <a:endParaRPr kumimoji="1" lang="zh-CN" altLang="en-US"/>
          </a:p>
        </p:txBody>
      </p:sp>
      <p:sp>
        <p:nvSpPr>
          <p:cNvPr id="5" name="页脚占位符 4">
            <a:extLst>
              <a:ext uri="{FF2B5EF4-FFF2-40B4-BE49-F238E27FC236}">
                <a16:creationId xmlns:a16="http://schemas.microsoft.com/office/drawing/2014/main" id="{C0D39631-315D-54C9-8E48-4E12CDD19BA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109E389-9B40-249D-2427-4F7EEFC2B2B7}"/>
              </a:ext>
            </a:extLst>
          </p:cNvPr>
          <p:cNvSpPr>
            <a:spLocks noGrp="1"/>
          </p:cNvSpPr>
          <p:nvPr>
            <p:ph type="sldNum" sz="quarter" idx="12"/>
          </p:nvPr>
        </p:nvSpPr>
        <p:spPr/>
        <p:txBody>
          <a:bodyPr/>
          <a:lstStyle/>
          <a:p>
            <a:fld id="{69C2B196-CD45-FE47-9286-9C733E074839}" type="slidenum">
              <a:rPr kumimoji="1" lang="zh-CN" altLang="en-US" smtClean="0"/>
              <a:t>‹#›</a:t>
            </a:fld>
            <a:endParaRPr kumimoji="1" lang="zh-CN" altLang="en-US"/>
          </a:p>
        </p:txBody>
      </p:sp>
    </p:spTree>
    <p:extLst>
      <p:ext uri="{BB962C8B-B14F-4D97-AF65-F5344CB8AC3E}">
        <p14:creationId xmlns:p14="http://schemas.microsoft.com/office/powerpoint/2010/main" val="1323002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B8A7C90-3555-97B3-9D3C-B4B98EBD5CD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B59C4564-F09D-6C39-33A4-F2436330ED8F}"/>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D1A0368-FE36-ABD2-44DC-5F38DFE25B39}"/>
              </a:ext>
            </a:extLst>
          </p:cNvPr>
          <p:cNvSpPr>
            <a:spLocks noGrp="1"/>
          </p:cNvSpPr>
          <p:nvPr>
            <p:ph type="dt" sz="half" idx="10"/>
          </p:nvPr>
        </p:nvSpPr>
        <p:spPr/>
        <p:txBody>
          <a:bodyPr/>
          <a:lstStyle/>
          <a:p>
            <a:fld id="{043CE96E-42BC-C14B-9257-00629B036FC2}" type="datetimeFigureOut">
              <a:rPr kumimoji="1" lang="zh-CN" altLang="en-US" smtClean="0"/>
              <a:t>2026/9/18</a:t>
            </a:fld>
            <a:endParaRPr kumimoji="1" lang="zh-CN" altLang="en-US"/>
          </a:p>
        </p:txBody>
      </p:sp>
      <p:sp>
        <p:nvSpPr>
          <p:cNvPr id="5" name="页脚占位符 4">
            <a:extLst>
              <a:ext uri="{FF2B5EF4-FFF2-40B4-BE49-F238E27FC236}">
                <a16:creationId xmlns:a16="http://schemas.microsoft.com/office/drawing/2014/main" id="{8959295D-39E1-A667-A453-3CB4FFF3A1A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4C692A9-1976-1321-5254-F06F7E61CD0A}"/>
              </a:ext>
            </a:extLst>
          </p:cNvPr>
          <p:cNvSpPr>
            <a:spLocks noGrp="1"/>
          </p:cNvSpPr>
          <p:nvPr>
            <p:ph type="sldNum" sz="quarter" idx="12"/>
          </p:nvPr>
        </p:nvSpPr>
        <p:spPr/>
        <p:txBody>
          <a:bodyPr/>
          <a:lstStyle/>
          <a:p>
            <a:fld id="{69C2B196-CD45-FE47-9286-9C733E074839}" type="slidenum">
              <a:rPr kumimoji="1" lang="zh-CN" altLang="en-US" smtClean="0"/>
              <a:t>‹#›</a:t>
            </a:fld>
            <a:endParaRPr kumimoji="1" lang="zh-CN" altLang="en-US"/>
          </a:p>
        </p:txBody>
      </p:sp>
    </p:spTree>
    <p:extLst>
      <p:ext uri="{BB962C8B-B14F-4D97-AF65-F5344CB8AC3E}">
        <p14:creationId xmlns:p14="http://schemas.microsoft.com/office/powerpoint/2010/main" val="4156404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9701200-F7AF-34AC-1479-70DDC084C2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939A898F-206D-B545-0D2F-211A530E16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23E19B9-D56A-0F6E-82E7-82B3B91323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3CE96E-42BC-C14B-9257-00629B036FC2}" type="datetimeFigureOut">
              <a:rPr kumimoji="1" lang="zh-CN" altLang="en-US" smtClean="0"/>
              <a:t>2026/9/18</a:t>
            </a:fld>
            <a:endParaRPr kumimoji="1" lang="zh-CN" altLang="en-US"/>
          </a:p>
        </p:txBody>
      </p:sp>
      <p:sp>
        <p:nvSpPr>
          <p:cNvPr id="5" name="页脚占位符 4">
            <a:extLst>
              <a:ext uri="{FF2B5EF4-FFF2-40B4-BE49-F238E27FC236}">
                <a16:creationId xmlns:a16="http://schemas.microsoft.com/office/drawing/2014/main" id="{B643F6E9-396E-0524-3333-1B94765174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3910965D-B373-5CF9-D3BC-1112CE4567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C2B196-CD45-FE47-9286-9C733E074839}" type="slidenum">
              <a:rPr kumimoji="1" lang="zh-CN" altLang="en-US" smtClean="0"/>
              <a:t>‹#›</a:t>
            </a:fld>
            <a:endParaRPr kumimoji="1" lang="zh-CN" altLang="en-US"/>
          </a:p>
        </p:txBody>
      </p:sp>
    </p:spTree>
    <p:extLst>
      <p:ext uri="{BB962C8B-B14F-4D97-AF65-F5344CB8AC3E}">
        <p14:creationId xmlns:p14="http://schemas.microsoft.com/office/powerpoint/2010/main" val="4141146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844697-3C5E-C5B8-73DC-231502B4F74B}"/>
              </a:ext>
            </a:extLst>
          </p:cNvPr>
          <p:cNvSpPr>
            <a:spLocks noGrp="1"/>
          </p:cNvSpPr>
          <p:nvPr>
            <p:ph type="ctrTitle"/>
          </p:nvPr>
        </p:nvSpPr>
        <p:spPr/>
        <p:txBody>
          <a:bodyPr/>
          <a:lstStyle/>
          <a:p>
            <a:r>
              <a:rPr kumimoji="1" lang="zh-CN" altLang="en-US" dirty="0"/>
              <a:t>多功能</a:t>
            </a:r>
            <a:r>
              <a:rPr kumimoji="1" lang="en-US" altLang="zh-CN" dirty="0"/>
              <a:t>LCR</a:t>
            </a:r>
            <a:r>
              <a:rPr kumimoji="1" lang="zh-CN" altLang="en-US" dirty="0"/>
              <a:t>测量仪</a:t>
            </a:r>
          </a:p>
        </p:txBody>
      </p:sp>
      <p:sp>
        <p:nvSpPr>
          <p:cNvPr id="3" name="副标题 2">
            <a:extLst>
              <a:ext uri="{FF2B5EF4-FFF2-40B4-BE49-F238E27FC236}">
                <a16:creationId xmlns:a16="http://schemas.microsoft.com/office/drawing/2014/main" id="{AD63B1A6-33A2-ACF5-CA12-8BAE1E9A280C}"/>
              </a:ext>
            </a:extLst>
          </p:cNvPr>
          <p:cNvSpPr>
            <a:spLocks noGrp="1"/>
          </p:cNvSpPr>
          <p:nvPr>
            <p:ph type="subTitle" idx="1"/>
          </p:nvPr>
        </p:nvSpPr>
        <p:spPr/>
        <p:txBody>
          <a:bodyPr/>
          <a:lstStyle/>
          <a:p>
            <a:r>
              <a:rPr kumimoji="1" lang="zh-CN" altLang="en-US" dirty="0"/>
              <a:t>张行言</a:t>
            </a:r>
            <a:r>
              <a:rPr kumimoji="1" lang="en-US" altLang="zh-CN" dirty="0"/>
              <a:t>&amp;</a:t>
            </a:r>
            <a:r>
              <a:rPr kumimoji="1" lang="zh-CN" altLang="en-US" dirty="0"/>
              <a:t>杨钧富队</a:t>
            </a:r>
            <a:endParaRPr kumimoji="1" lang="en-US" altLang="zh-CN" dirty="0"/>
          </a:p>
          <a:p>
            <a:r>
              <a:rPr kumimoji="1" lang="en-US" altLang="zh-CN" dirty="0"/>
              <a:t>2026/9/19</a:t>
            </a:r>
            <a:endParaRPr kumimoji="1" lang="zh-CN" altLang="en-US" dirty="0"/>
          </a:p>
        </p:txBody>
      </p:sp>
    </p:spTree>
    <p:extLst>
      <p:ext uri="{BB962C8B-B14F-4D97-AF65-F5344CB8AC3E}">
        <p14:creationId xmlns:p14="http://schemas.microsoft.com/office/powerpoint/2010/main" val="906000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CC9D1B-D215-0E21-E79A-D5B6715237C9}"/>
              </a:ext>
            </a:extLst>
          </p:cNvPr>
          <p:cNvSpPr>
            <a:spLocks noGrp="1"/>
          </p:cNvSpPr>
          <p:nvPr>
            <p:ph type="title"/>
          </p:nvPr>
        </p:nvSpPr>
        <p:spPr/>
        <p:txBody>
          <a:bodyPr/>
          <a:lstStyle/>
          <a:p>
            <a:r>
              <a:rPr kumimoji="1" lang="zh-CN" altLang="en-US" dirty="0"/>
              <a:t>作品简介</a:t>
            </a:r>
          </a:p>
        </p:txBody>
      </p:sp>
      <p:sp>
        <p:nvSpPr>
          <p:cNvPr id="3" name="内容占位符 2">
            <a:extLst>
              <a:ext uri="{FF2B5EF4-FFF2-40B4-BE49-F238E27FC236}">
                <a16:creationId xmlns:a16="http://schemas.microsoft.com/office/drawing/2014/main" id="{CD0D2D43-EFB2-9102-E5C7-0863A4BF860A}"/>
              </a:ext>
            </a:extLst>
          </p:cNvPr>
          <p:cNvSpPr>
            <a:spLocks noGrp="1"/>
          </p:cNvSpPr>
          <p:nvPr>
            <p:ph idx="1"/>
          </p:nvPr>
        </p:nvSpPr>
        <p:spPr/>
        <p:txBody>
          <a:bodyPr/>
          <a:lstStyle/>
          <a:p>
            <a:r>
              <a:rPr kumimoji="1" lang="zh-CN" altLang="en-US" dirty="0"/>
              <a:t>        本作品是一个</a:t>
            </a:r>
            <a:r>
              <a:rPr kumimoji="1" lang="en-US" altLang="zh-CN" dirty="0"/>
              <a:t>LCR</a:t>
            </a:r>
            <a:r>
              <a:rPr kumimoji="1" lang="zh-CN" altLang="en-US" dirty="0"/>
              <a:t>测量仪，可以在</a:t>
            </a:r>
            <a:r>
              <a:rPr kumimoji="1" lang="en-US" altLang="zh-CN" dirty="0"/>
              <a:t>10-10kHz</a:t>
            </a:r>
            <a:r>
              <a:rPr kumimoji="1" lang="zh-CN" altLang="en-US" dirty="0"/>
              <a:t>内几乎任意频点测量待测元件的复阻抗并自动计算串并联等效阻容感。此外还支持双端口网络幅频特性和相频特性测量，以及</a:t>
            </a:r>
            <a:r>
              <a:rPr kumimoji="1" lang="en-US" altLang="zh-CN" dirty="0"/>
              <a:t>10-10kHz</a:t>
            </a:r>
            <a:r>
              <a:rPr kumimoji="1" lang="zh-CN" altLang="en-US" dirty="0"/>
              <a:t>正弦波发生器功能。本作品可以将测量得到的数据通过</a:t>
            </a:r>
            <a:r>
              <a:rPr kumimoji="1" lang="en-US" altLang="zh-CN" dirty="0"/>
              <a:t>BLE</a:t>
            </a:r>
            <a:r>
              <a:rPr kumimoji="1" lang="zh-CN" altLang="en-US" dirty="0"/>
              <a:t>发送到专用网页上进行可视化展示，同时网页也具备单端口网络拟合，可以通过多频点扫频数据拟合出等效电路结构。</a:t>
            </a:r>
          </a:p>
        </p:txBody>
      </p:sp>
    </p:spTree>
    <p:extLst>
      <p:ext uri="{BB962C8B-B14F-4D97-AF65-F5344CB8AC3E}">
        <p14:creationId xmlns:p14="http://schemas.microsoft.com/office/powerpoint/2010/main" val="1348967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424BAF-D8AE-BDC2-B774-30CAEF77CE6E}"/>
              </a:ext>
            </a:extLst>
          </p:cNvPr>
          <p:cNvSpPr>
            <a:spLocks noGrp="1"/>
          </p:cNvSpPr>
          <p:nvPr>
            <p:ph type="title"/>
          </p:nvPr>
        </p:nvSpPr>
        <p:spPr/>
        <p:txBody>
          <a:bodyPr/>
          <a:lstStyle/>
          <a:p>
            <a:r>
              <a:rPr kumimoji="1" lang="zh-CN" altLang="en-US" dirty="0"/>
              <a:t>功能介绍</a:t>
            </a:r>
          </a:p>
        </p:txBody>
      </p:sp>
      <p:sp>
        <p:nvSpPr>
          <p:cNvPr id="6" name="椭圆 5">
            <a:extLst>
              <a:ext uri="{FF2B5EF4-FFF2-40B4-BE49-F238E27FC236}">
                <a16:creationId xmlns:a16="http://schemas.microsoft.com/office/drawing/2014/main" id="{FFF4F41D-8691-C3B1-E05F-8A41C59FA289}"/>
              </a:ext>
            </a:extLst>
          </p:cNvPr>
          <p:cNvSpPr/>
          <p:nvPr/>
        </p:nvSpPr>
        <p:spPr>
          <a:xfrm>
            <a:off x="7875270" y="2103437"/>
            <a:ext cx="880110" cy="1325563"/>
          </a:xfrm>
          <a:prstGeom prst="ellipse">
            <a:avLst/>
          </a:prstGeom>
          <a:solidFill>
            <a:schemeClr val="tx1">
              <a:alpha val="0"/>
            </a:schemeClr>
          </a:solidFill>
          <a:ln w="603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7">
            <a:extLst>
              <a:ext uri="{FF2B5EF4-FFF2-40B4-BE49-F238E27FC236}">
                <a16:creationId xmlns:a16="http://schemas.microsoft.com/office/drawing/2014/main" id="{016711D5-6B57-C5F6-C0BF-43DC8978AEAA}"/>
              </a:ext>
            </a:extLst>
          </p:cNvPr>
          <p:cNvSpPr/>
          <p:nvPr/>
        </p:nvSpPr>
        <p:spPr>
          <a:xfrm>
            <a:off x="11744351" y="1953736"/>
            <a:ext cx="440055" cy="812482"/>
          </a:xfrm>
          <a:prstGeom prst="ellipse">
            <a:avLst/>
          </a:prstGeom>
          <a:solidFill>
            <a:schemeClr val="tx1">
              <a:alpha val="0"/>
            </a:schemeClr>
          </a:solidFill>
          <a:ln w="603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 name="图片 9">
            <a:extLst>
              <a:ext uri="{FF2B5EF4-FFF2-40B4-BE49-F238E27FC236}">
                <a16:creationId xmlns:a16="http://schemas.microsoft.com/office/drawing/2014/main" id="{8D83F184-B87A-7FC8-11FD-6E52A4BEF88E}"/>
              </a:ext>
            </a:extLst>
          </p:cNvPr>
          <p:cNvPicPr>
            <a:picLocks noChangeAspect="1"/>
          </p:cNvPicPr>
          <p:nvPr/>
        </p:nvPicPr>
        <p:blipFill rotWithShape="1">
          <a:blip r:embed="rId2"/>
          <a:srcRect l="13186" t="9608" r="22108" b="8040"/>
          <a:stretch/>
        </p:blipFill>
        <p:spPr>
          <a:xfrm>
            <a:off x="3428209" y="0"/>
            <a:ext cx="7184571" cy="6858000"/>
          </a:xfrm>
          <a:prstGeom prst="rect">
            <a:avLst/>
          </a:prstGeom>
        </p:spPr>
      </p:pic>
      <p:sp>
        <p:nvSpPr>
          <p:cNvPr id="13" name="椭圆 12">
            <a:extLst>
              <a:ext uri="{FF2B5EF4-FFF2-40B4-BE49-F238E27FC236}">
                <a16:creationId xmlns:a16="http://schemas.microsoft.com/office/drawing/2014/main" id="{935EFC15-8BF9-4901-453B-73DCC1E4B198}"/>
              </a:ext>
            </a:extLst>
          </p:cNvPr>
          <p:cNvSpPr/>
          <p:nvPr/>
        </p:nvSpPr>
        <p:spPr>
          <a:xfrm>
            <a:off x="9819335" y="2983230"/>
            <a:ext cx="793445" cy="1463040"/>
          </a:xfrm>
          <a:prstGeom prst="ellipse">
            <a:avLst/>
          </a:prstGeom>
          <a:solidFill>
            <a:schemeClr val="accent1">
              <a:alpha val="0"/>
            </a:schemeClr>
          </a:solidFill>
          <a:ln w="698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椭圆 13">
            <a:extLst>
              <a:ext uri="{FF2B5EF4-FFF2-40B4-BE49-F238E27FC236}">
                <a16:creationId xmlns:a16="http://schemas.microsoft.com/office/drawing/2014/main" id="{4FBFC58E-01C3-304A-660F-DC74A7160B98}"/>
              </a:ext>
            </a:extLst>
          </p:cNvPr>
          <p:cNvSpPr/>
          <p:nvPr/>
        </p:nvSpPr>
        <p:spPr>
          <a:xfrm>
            <a:off x="10115549" y="1696085"/>
            <a:ext cx="364839" cy="731520"/>
          </a:xfrm>
          <a:prstGeom prst="ellipse">
            <a:avLst/>
          </a:prstGeom>
          <a:solidFill>
            <a:schemeClr val="accent1">
              <a:alpha val="0"/>
            </a:schemeClr>
          </a:solidFill>
          <a:ln w="698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a:extLst>
              <a:ext uri="{FF2B5EF4-FFF2-40B4-BE49-F238E27FC236}">
                <a16:creationId xmlns:a16="http://schemas.microsoft.com/office/drawing/2014/main" id="{85EF13C9-6621-FBBD-437C-F641EF78ECD1}"/>
              </a:ext>
            </a:extLst>
          </p:cNvPr>
          <p:cNvSpPr/>
          <p:nvPr/>
        </p:nvSpPr>
        <p:spPr>
          <a:xfrm flipH="1">
            <a:off x="6176010" y="2034698"/>
            <a:ext cx="958239" cy="1131412"/>
          </a:xfrm>
          <a:prstGeom prst="ellipse">
            <a:avLst/>
          </a:prstGeom>
          <a:solidFill>
            <a:schemeClr val="accent1">
              <a:alpha val="0"/>
            </a:schemeClr>
          </a:solidFill>
          <a:ln w="698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CEFCDB29-0ADC-DED0-034E-40A70D925F37}"/>
              </a:ext>
            </a:extLst>
          </p:cNvPr>
          <p:cNvSpPr txBox="1"/>
          <p:nvPr/>
        </p:nvSpPr>
        <p:spPr>
          <a:xfrm>
            <a:off x="10453553" y="1664415"/>
            <a:ext cx="1800493" cy="369332"/>
          </a:xfrm>
          <a:prstGeom prst="rect">
            <a:avLst/>
          </a:prstGeom>
          <a:noFill/>
        </p:spPr>
        <p:txBody>
          <a:bodyPr wrap="none" rtlCol="0">
            <a:spAutoFit/>
          </a:bodyPr>
          <a:lstStyle/>
          <a:p>
            <a:r>
              <a:rPr kumimoji="1" lang="zh-CN" altLang="en-US" dirty="0"/>
              <a:t>双端口测试输入</a:t>
            </a:r>
          </a:p>
        </p:txBody>
      </p:sp>
      <p:sp>
        <p:nvSpPr>
          <p:cNvPr id="20" name="文本框 19">
            <a:extLst>
              <a:ext uri="{FF2B5EF4-FFF2-40B4-BE49-F238E27FC236}">
                <a16:creationId xmlns:a16="http://schemas.microsoft.com/office/drawing/2014/main" id="{3DF10AD4-3FF2-E2B6-65EA-94113BBFADFE}"/>
              </a:ext>
            </a:extLst>
          </p:cNvPr>
          <p:cNvSpPr txBox="1"/>
          <p:nvPr/>
        </p:nvSpPr>
        <p:spPr>
          <a:xfrm>
            <a:off x="10544261" y="4002186"/>
            <a:ext cx="1569660" cy="646331"/>
          </a:xfrm>
          <a:prstGeom prst="rect">
            <a:avLst/>
          </a:prstGeom>
          <a:noFill/>
        </p:spPr>
        <p:txBody>
          <a:bodyPr wrap="none" rtlCol="0">
            <a:spAutoFit/>
          </a:bodyPr>
          <a:lstStyle/>
          <a:p>
            <a:r>
              <a:rPr kumimoji="1" lang="zh-CN" altLang="en-US" dirty="0"/>
              <a:t>待测元件接口</a:t>
            </a:r>
            <a:endParaRPr kumimoji="1" lang="en-US" altLang="zh-CN" dirty="0"/>
          </a:p>
          <a:p>
            <a:pPr algn="ctr"/>
            <a:r>
              <a:rPr kumimoji="1" lang="en-US" altLang="zh-CN" dirty="0"/>
              <a:t>&amp;</a:t>
            </a:r>
            <a:r>
              <a:rPr kumimoji="1" lang="zh-CN" altLang="en-US" dirty="0"/>
              <a:t>正弦波输出</a:t>
            </a:r>
          </a:p>
        </p:txBody>
      </p:sp>
      <p:sp>
        <p:nvSpPr>
          <p:cNvPr id="21" name="文本框 20">
            <a:extLst>
              <a:ext uri="{FF2B5EF4-FFF2-40B4-BE49-F238E27FC236}">
                <a16:creationId xmlns:a16="http://schemas.microsoft.com/office/drawing/2014/main" id="{829A0E72-2C53-85A1-CC7D-CB58F4ADA7D2}"/>
              </a:ext>
            </a:extLst>
          </p:cNvPr>
          <p:cNvSpPr txBox="1"/>
          <p:nvPr/>
        </p:nvSpPr>
        <p:spPr>
          <a:xfrm>
            <a:off x="3711871" y="2359977"/>
            <a:ext cx="2394499" cy="369332"/>
          </a:xfrm>
          <a:prstGeom prst="rect">
            <a:avLst/>
          </a:prstGeom>
          <a:solidFill>
            <a:schemeClr val="bg1"/>
          </a:solidFill>
        </p:spPr>
        <p:txBody>
          <a:bodyPr wrap="square" rtlCol="0">
            <a:spAutoFit/>
          </a:bodyPr>
          <a:lstStyle/>
          <a:p>
            <a:r>
              <a:rPr kumimoji="1" lang="en-US" altLang="zh-CN" dirty="0"/>
              <a:t>5V</a:t>
            </a:r>
            <a:r>
              <a:rPr kumimoji="1" lang="zh-CN" altLang="en-US" dirty="0"/>
              <a:t>圆口</a:t>
            </a:r>
            <a:r>
              <a:rPr kumimoji="1" lang="en-US" altLang="zh-CN" dirty="0"/>
              <a:t>/</a:t>
            </a:r>
            <a:r>
              <a:rPr kumimoji="1" lang="zh-CN" altLang="en-US" dirty="0"/>
              <a:t>接线端子供电</a:t>
            </a:r>
          </a:p>
        </p:txBody>
      </p:sp>
      <p:sp>
        <p:nvSpPr>
          <p:cNvPr id="23" name="文本框 22">
            <a:extLst>
              <a:ext uri="{FF2B5EF4-FFF2-40B4-BE49-F238E27FC236}">
                <a16:creationId xmlns:a16="http://schemas.microsoft.com/office/drawing/2014/main" id="{EE384623-90D4-78A6-F38C-061297BAB239}"/>
              </a:ext>
            </a:extLst>
          </p:cNvPr>
          <p:cNvSpPr txBox="1"/>
          <p:nvPr/>
        </p:nvSpPr>
        <p:spPr>
          <a:xfrm>
            <a:off x="6592264" y="5423316"/>
            <a:ext cx="1973617" cy="369332"/>
          </a:xfrm>
          <a:prstGeom prst="rect">
            <a:avLst/>
          </a:prstGeom>
          <a:noFill/>
        </p:spPr>
        <p:txBody>
          <a:bodyPr wrap="none" rtlCol="0">
            <a:spAutoFit/>
          </a:bodyPr>
          <a:lstStyle/>
          <a:p>
            <a:r>
              <a:rPr kumimoji="1" lang="zh-CN" altLang="en-US" dirty="0"/>
              <a:t>显示屏</a:t>
            </a:r>
            <a:r>
              <a:rPr kumimoji="1" lang="en-US" altLang="zh-CN" dirty="0"/>
              <a:t>&amp;</a:t>
            </a:r>
            <a:r>
              <a:rPr kumimoji="1" lang="zh-CN" altLang="en-US" dirty="0"/>
              <a:t>操作按钮</a:t>
            </a:r>
          </a:p>
        </p:txBody>
      </p:sp>
      <p:sp>
        <p:nvSpPr>
          <p:cNvPr id="24" name="文本框 23">
            <a:extLst>
              <a:ext uri="{FF2B5EF4-FFF2-40B4-BE49-F238E27FC236}">
                <a16:creationId xmlns:a16="http://schemas.microsoft.com/office/drawing/2014/main" id="{62087E5F-09E4-001D-289D-1A7D6B6571C7}"/>
              </a:ext>
            </a:extLst>
          </p:cNvPr>
          <p:cNvSpPr txBox="1"/>
          <p:nvPr/>
        </p:nvSpPr>
        <p:spPr>
          <a:xfrm>
            <a:off x="2551046" y="3720346"/>
            <a:ext cx="877163" cy="369332"/>
          </a:xfrm>
          <a:prstGeom prst="rect">
            <a:avLst/>
          </a:prstGeom>
          <a:noFill/>
        </p:spPr>
        <p:txBody>
          <a:bodyPr wrap="none" rtlCol="0">
            <a:spAutoFit/>
          </a:bodyPr>
          <a:lstStyle/>
          <a:p>
            <a:r>
              <a:rPr kumimoji="1" lang="zh-CN" altLang="en-US" dirty="0"/>
              <a:t>编码器</a:t>
            </a:r>
          </a:p>
        </p:txBody>
      </p:sp>
    </p:spTree>
    <p:extLst>
      <p:ext uri="{BB962C8B-B14F-4D97-AF65-F5344CB8AC3E}">
        <p14:creationId xmlns:p14="http://schemas.microsoft.com/office/powerpoint/2010/main" val="3001427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7305F6-B3EE-8E4F-6877-4CA76414E58F}"/>
              </a:ext>
            </a:extLst>
          </p:cNvPr>
          <p:cNvSpPr>
            <a:spLocks noGrp="1"/>
          </p:cNvSpPr>
          <p:nvPr>
            <p:ph type="title"/>
          </p:nvPr>
        </p:nvSpPr>
        <p:spPr>
          <a:xfrm>
            <a:off x="-1" y="-284876"/>
            <a:ext cx="10515600" cy="1325563"/>
          </a:xfrm>
        </p:spPr>
        <p:txBody>
          <a:bodyPr/>
          <a:lstStyle/>
          <a:p>
            <a:r>
              <a:rPr kumimoji="1" lang="zh-CN" altLang="en-US" dirty="0"/>
              <a:t>功能介绍</a:t>
            </a:r>
          </a:p>
        </p:txBody>
      </p:sp>
      <p:pic>
        <p:nvPicPr>
          <p:cNvPr id="5" name="内容占位符 4">
            <a:extLst>
              <a:ext uri="{FF2B5EF4-FFF2-40B4-BE49-F238E27FC236}">
                <a16:creationId xmlns:a16="http://schemas.microsoft.com/office/drawing/2014/main" id="{1EEFC013-5C36-11A4-A2E2-15C7457FD374}"/>
              </a:ext>
            </a:extLst>
          </p:cNvPr>
          <p:cNvPicPr>
            <a:picLocks noGrp="1" noChangeAspect="1"/>
          </p:cNvPicPr>
          <p:nvPr>
            <p:ph idx="1"/>
          </p:nvPr>
        </p:nvPicPr>
        <p:blipFill>
          <a:blip r:embed="rId2"/>
          <a:stretch>
            <a:fillRect/>
          </a:stretch>
        </p:blipFill>
        <p:spPr>
          <a:xfrm>
            <a:off x="9397367" y="1"/>
            <a:ext cx="2794634" cy="3726180"/>
          </a:xfrm>
        </p:spPr>
      </p:pic>
      <p:sp>
        <p:nvSpPr>
          <p:cNvPr id="6" name="文本框 5">
            <a:extLst>
              <a:ext uri="{FF2B5EF4-FFF2-40B4-BE49-F238E27FC236}">
                <a16:creationId xmlns:a16="http://schemas.microsoft.com/office/drawing/2014/main" id="{3BF88742-1324-6786-2A2E-952977F8431F}"/>
              </a:ext>
            </a:extLst>
          </p:cNvPr>
          <p:cNvSpPr txBox="1"/>
          <p:nvPr/>
        </p:nvSpPr>
        <p:spPr>
          <a:xfrm>
            <a:off x="0" y="912072"/>
            <a:ext cx="6457949" cy="2308324"/>
          </a:xfrm>
          <a:prstGeom prst="rect">
            <a:avLst/>
          </a:prstGeom>
          <a:noFill/>
        </p:spPr>
        <p:txBody>
          <a:bodyPr wrap="square" rtlCol="0">
            <a:spAutoFit/>
          </a:bodyPr>
          <a:lstStyle/>
          <a:p>
            <a:r>
              <a:rPr kumimoji="1" lang="zh-CN" altLang="en-US" dirty="0"/>
              <a:t>        上电后，仪器将显示菜单界面，可以通过编码器旋转或上下按钮（</a:t>
            </a:r>
            <a:r>
              <a:rPr kumimoji="1" lang="en-US" altLang="zh-CN" dirty="0"/>
              <a:t>K1,K2</a:t>
            </a:r>
            <a:r>
              <a:rPr kumimoji="1" lang="zh-CN" altLang="en-US" dirty="0"/>
              <a:t>）调节菜单选项，并通过确定按钮（</a:t>
            </a:r>
            <a:r>
              <a:rPr kumimoji="1" lang="en-US" altLang="zh-CN" dirty="0"/>
              <a:t>K4</a:t>
            </a:r>
            <a:r>
              <a:rPr kumimoji="1" lang="zh-CN" altLang="en-US" dirty="0"/>
              <a:t>）选择选项。此后，仪器将进入频率调节界面，此时可通过上下按钮选择要更改的位，并通过编码器旋转增减该位的数字。</a:t>
            </a:r>
            <a:r>
              <a:rPr kumimoji="1" lang="en-US" altLang="zh-CN" dirty="0"/>
              <a:t>K3</a:t>
            </a:r>
            <a:r>
              <a:rPr kumimoji="1" lang="zh-CN" altLang="en-US" dirty="0"/>
              <a:t>为返回按键，可以返回上一级菜单或停止测量。</a:t>
            </a:r>
            <a:endParaRPr kumimoji="1" lang="en-US" altLang="zh-CN" dirty="0"/>
          </a:p>
          <a:p>
            <a:r>
              <a:rPr kumimoji="1" lang="zh-CN" altLang="en-US" dirty="0"/>
              <a:t>        功能</a:t>
            </a:r>
            <a:r>
              <a:rPr kumimoji="1" lang="en-US" altLang="zh-CN" dirty="0"/>
              <a:t>1</a:t>
            </a:r>
            <a:r>
              <a:rPr kumimoji="1" lang="zh-CN" altLang="en-US" dirty="0"/>
              <a:t>是未知元件判断，仪器将在用户指定的范围内扫描</a:t>
            </a:r>
            <a:r>
              <a:rPr kumimoji="1" lang="en-US" altLang="zh-CN" dirty="0"/>
              <a:t>5</a:t>
            </a:r>
            <a:r>
              <a:rPr kumimoji="1" lang="zh-CN" altLang="en-US" dirty="0"/>
              <a:t>个频点，分别测量，并根据</a:t>
            </a:r>
            <a:r>
              <a:rPr kumimoji="1" lang="en-US" altLang="zh-CN" dirty="0"/>
              <a:t>5</a:t>
            </a:r>
            <a:r>
              <a:rPr kumimoji="1" lang="zh-CN" altLang="en-US" dirty="0"/>
              <a:t>个频点中占多数的特性（容性</a:t>
            </a:r>
            <a:r>
              <a:rPr kumimoji="1" lang="en-US" altLang="zh-CN" dirty="0"/>
              <a:t>/</a:t>
            </a:r>
            <a:r>
              <a:rPr kumimoji="1" lang="zh-CN" altLang="en-US" dirty="0"/>
              <a:t>感性</a:t>
            </a:r>
            <a:r>
              <a:rPr kumimoji="1" lang="en-US" altLang="zh-CN" dirty="0"/>
              <a:t>/</a:t>
            </a:r>
            <a:r>
              <a:rPr kumimoji="1" lang="zh-CN" altLang="en-US" dirty="0"/>
              <a:t>阻性）定性此元件。</a:t>
            </a:r>
          </a:p>
        </p:txBody>
      </p:sp>
      <p:sp>
        <p:nvSpPr>
          <p:cNvPr id="7" name="文本框 6">
            <a:extLst>
              <a:ext uri="{FF2B5EF4-FFF2-40B4-BE49-F238E27FC236}">
                <a16:creationId xmlns:a16="http://schemas.microsoft.com/office/drawing/2014/main" id="{04ACDB3E-82B2-B9DF-6D53-66075E7653CA}"/>
              </a:ext>
            </a:extLst>
          </p:cNvPr>
          <p:cNvSpPr txBox="1"/>
          <p:nvPr/>
        </p:nvSpPr>
        <p:spPr>
          <a:xfrm>
            <a:off x="9397366" y="3721973"/>
            <a:ext cx="2794634" cy="369332"/>
          </a:xfrm>
          <a:prstGeom prst="rect">
            <a:avLst/>
          </a:prstGeom>
          <a:noFill/>
        </p:spPr>
        <p:txBody>
          <a:bodyPr wrap="square" rtlCol="0">
            <a:spAutoFit/>
          </a:bodyPr>
          <a:lstStyle/>
          <a:p>
            <a:pPr algn="ctr"/>
            <a:r>
              <a:rPr kumimoji="1" lang="zh-CN" altLang="en-US" dirty="0"/>
              <a:t>菜单界面</a:t>
            </a:r>
          </a:p>
        </p:txBody>
      </p:sp>
      <p:pic>
        <p:nvPicPr>
          <p:cNvPr id="9" name="图片 8">
            <a:extLst>
              <a:ext uri="{FF2B5EF4-FFF2-40B4-BE49-F238E27FC236}">
                <a16:creationId xmlns:a16="http://schemas.microsoft.com/office/drawing/2014/main" id="{634D07CD-6E55-795E-5472-13D2BA5B4CCF}"/>
              </a:ext>
            </a:extLst>
          </p:cNvPr>
          <p:cNvPicPr>
            <a:picLocks noChangeAspect="1"/>
          </p:cNvPicPr>
          <p:nvPr/>
        </p:nvPicPr>
        <p:blipFill>
          <a:blip r:embed="rId3"/>
          <a:stretch>
            <a:fillRect/>
          </a:stretch>
        </p:blipFill>
        <p:spPr>
          <a:xfrm>
            <a:off x="6602733" y="0"/>
            <a:ext cx="2794634" cy="3726179"/>
          </a:xfrm>
          <a:prstGeom prst="rect">
            <a:avLst/>
          </a:prstGeom>
        </p:spPr>
      </p:pic>
      <p:sp>
        <p:nvSpPr>
          <p:cNvPr id="10" name="文本框 9">
            <a:extLst>
              <a:ext uri="{FF2B5EF4-FFF2-40B4-BE49-F238E27FC236}">
                <a16:creationId xmlns:a16="http://schemas.microsoft.com/office/drawing/2014/main" id="{845FF23B-5D9F-647C-BE82-0402F4A0FBCE}"/>
              </a:ext>
            </a:extLst>
          </p:cNvPr>
          <p:cNvSpPr txBox="1"/>
          <p:nvPr/>
        </p:nvSpPr>
        <p:spPr>
          <a:xfrm>
            <a:off x="6602731" y="3721973"/>
            <a:ext cx="2794633" cy="369332"/>
          </a:xfrm>
          <a:prstGeom prst="rect">
            <a:avLst/>
          </a:prstGeom>
          <a:noFill/>
        </p:spPr>
        <p:txBody>
          <a:bodyPr wrap="square" rtlCol="0">
            <a:spAutoFit/>
          </a:bodyPr>
          <a:lstStyle/>
          <a:p>
            <a:pPr algn="ctr"/>
            <a:r>
              <a:rPr kumimoji="1" lang="zh-CN" altLang="en-US" dirty="0"/>
              <a:t>频率调节界面</a:t>
            </a:r>
          </a:p>
        </p:txBody>
      </p:sp>
      <p:pic>
        <p:nvPicPr>
          <p:cNvPr id="12" name="图片 11">
            <a:extLst>
              <a:ext uri="{FF2B5EF4-FFF2-40B4-BE49-F238E27FC236}">
                <a16:creationId xmlns:a16="http://schemas.microsoft.com/office/drawing/2014/main" id="{BF28E98D-6DE1-4735-37E8-DCC826CE97F3}"/>
              </a:ext>
            </a:extLst>
          </p:cNvPr>
          <p:cNvPicPr>
            <a:picLocks noChangeAspect="1"/>
          </p:cNvPicPr>
          <p:nvPr/>
        </p:nvPicPr>
        <p:blipFill>
          <a:blip r:embed="rId4"/>
          <a:stretch>
            <a:fillRect/>
          </a:stretch>
        </p:blipFill>
        <p:spPr>
          <a:xfrm>
            <a:off x="0" y="3448685"/>
            <a:ext cx="2283143" cy="3044190"/>
          </a:xfrm>
          <a:prstGeom prst="rect">
            <a:avLst/>
          </a:prstGeom>
        </p:spPr>
      </p:pic>
      <p:sp>
        <p:nvSpPr>
          <p:cNvPr id="13" name="文本框 12">
            <a:extLst>
              <a:ext uri="{FF2B5EF4-FFF2-40B4-BE49-F238E27FC236}">
                <a16:creationId xmlns:a16="http://schemas.microsoft.com/office/drawing/2014/main" id="{5445DF5B-E179-99A1-0EA4-B6653225CCEF}"/>
              </a:ext>
            </a:extLst>
          </p:cNvPr>
          <p:cNvSpPr txBox="1"/>
          <p:nvPr/>
        </p:nvSpPr>
        <p:spPr>
          <a:xfrm>
            <a:off x="-1" y="6492875"/>
            <a:ext cx="2283143" cy="369332"/>
          </a:xfrm>
          <a:prstGeom prst="rect">
            <a:avLst/>
          </a:prstGeom>
          <a:noFill/>
        </p:spPr>
        <p:txBody>
          <a:bodyPr wrap="square" rtlCol="0">
            <a:spAutoFit/>
          </a:bodyPr>
          <a:lstStyle/>
          <a:p>
            <a:pPr algn="ctr"/>
            <a:r>
              <a:rPr kumimoji="1" lang="zh-CN" altLang="en-US" dirty="0"/>
              <a:t>测量界面</a:t>
            </a:r>
          </a:p>
        </p:txBody>
      </p:sp>
      <p:pic>
        <p:nvPicPr>
          <p:cNvPr id="15" name="图片 14">
            <a:extLst>
              <a:ext uri="{FF2B5EF4-FFF2-40B4-BE49-F238E27FC236}">
                <a16:creationId xmlns:a16="http://schemas.microsoft.com/office/drawing/2014/main" id="{7A90CD00-92A7-6AB5-A65F-755D323F6254}"/>
              </a:ext>
            </a:extLst>
          </p:cNvPr>
          <p:cNvPicPr>
            <a:picLocks noChangeAspect="1"/>
          </p:cNvPicPr>
          <p:nvPr/>
        </p:nvPicPr>
        <p:blipFill>
          <a:blip r:embed="rId5"/>
          <a:stretch>
            <a:fillRect/>
          </a:stretch>
        </p:blipFill>
        <p:spPr>
          <a:xfrm>
            <a:off x="2283142" y="3448683"/>
            <a:ext cx="2283143" cy="3044191"/>
          </a:xfrm>
          <a:prstGeom prst="rect">
            <a:avLst/>
          </a:prstGeom>
        </p:spPr>
      </p:pic>
      <p:sp>
        <p:nvSpPr>
          <p:cNvPr id="16" name="文本框 15">
            <a:extLst>
              <a:ext uri="{FF2B5EF4-FFF2-40B4-BE49-F238E27FC236}">
                <a16:creationId xmlns:a16="http://schemas.microsoft.com/office/drawing/2014/main" id="{03173515-7208-961F-313E-5F46CA57322C}"/>
              </a:ext>
            </a:extLst>
          </p:cNvPr>
          <p:cNvSpPr txBox="1"/>
          <p:nvPr/>
        </p:nvSpPr>
        <p:spPr>
          <a:xfrm>
            <a:off x="2283141" y="6492875"/>
            <a:ext cx="2283143" cy="369332"/>
          </a:xfrm>
          <a:prstGeom prst="rect">
            <a:avLst/>
          </a:prstGeom>
          <a:noFill/>
        </p:spPr>
        <p:txBody>
          <a:bodyPr wrap="square" rtlCol="0">
            <a:spAutoFit/>
          </a:bodyPr>
          <a:lstStyle/>
          <a:p>
            <a:pPr algn="ctr"/>
            <a:r>
              <a:rPr kumimoji="1" lang="zh-CN" altLang="en-US" dirty="0"/>
              <a:t>上传界面</a:t>
            </a:r>
          </a:p>
        </p:txBody>
      </p:sp>
      <p:sp>
        <p:nvSpPr>
          <p:cNvPr id="17" name="文本框 16">
            <a:extLst>
              <a:ext uri="{FF2B5EF4-FFF2-40B4-BE49-F238E27FC236}">
                <a16:creationId xmlns:a16="http://schemas.microsoft.com/office/drawing/2014/main" id="{87964C87-D4C9-7DFA-3801-3C3CDC6BE3FC}"/>
              </a:ext>
            </a:extLst>
          </p:cNvPr>
          <p:cNvSpPr txBox="1"/>
          <p:nvPr/>
        </p:nvSpPr>
        <p:spPr>
          <a:xfrm>
            <a:off x="5033962" y="3995677"/>
            <a:ext cx="6457949" cy="2862322"/>
          </a:xfrm>
          <a:prstGeom prst="rect">
            <a:avLst/>
          </a:prstGeom>
          <a:noFill/>
        </p:spPr>
        <p:txBody>
          <a:bodyPr wrap="square" rtlCol="0">
            <a:spAutoFit/>
          </a:bodyPr>
          <a:lstStyle/>
          <a:p>
            <a:r>
              <a:rPr kumimoji="1" lang="zh-CN" altLang="en-US" dirty="0"/>
              <a:t>        功能</a:t>
            </a:r>
            <a:r>
              <a:rPr kumimoji="1" lang="en-US" altLang="zh-CN" dirty="0"/>
              <a:t>2</a:t>
            </a:r>
            <a:r>
              <a:rPr kumimoji="1" lang="zh-CN" altLang="en-US" dirty="0"/>
              <a:t>是单频点测量，仪器将在给定的频点进行测量，其中自动切换从</a:t>
            </a:r>
            <a:r>
              <a:rPr kumimoji="1" lang="en-US" altLang="zh-CN" dirty="0"/>
              <a:t>22</a:t>
            </a:r>
            <a:r>
              <a:rPr kumimoji="1" lang="zh-CN" altLang="en-US" dirty="0"/>
              <a:t>欧姆至</a:t>
            </a:r>
            <a:r>
              <a:rPr kumimoji="1" lang="en-US" altLang="zh-CN" dirty="0"/>
              <a:t>1M</a:t>
            </a:r>
            <a:r>
              <a:rPr kumimoji="1" lang="zh-CN" altLang="en-US" dirty="0"/>
              <a:t>欧姆的</a:t>
            </a:r>
            <a:r>
              <a:rPr kumimoji="1" lang="en-US" altLang="zh-CN" dirty="0"/>
              <a:t>10</a:t>
            </a:r>
            <a:r>
              <a:rPr kumimoji="1" lang="zh-CN" altLang="en-US" dirty="0"/>
              <a:t>个跨阻放大档位以及从</a:t>
            </a:r>
            <a:r>
              <a:rPr kumimoji="1" lang="en-US" altLang="zh-CN" dirty="0"/>
              <a:t>1</a:t>
            </a:r>
            <a:r>
              <a:rPr kumimoji="1" lang="zh-CN" altLang="en-US" dirty="0"/>
              <a:t>到</a:t>
            </a:r>
            <a:r>
              <a:rPr kumimoji="1" lang="en-US" altLang="zh-CN" dirty="0"/>
              <a:t>33</a:t>
            </a:r>
            <a:r>
              <a:rPr kumimoji="1" lang="zh-CN" altLang="en-US" dirty="0"/>
              <a:t>的</a:t>
            </a:r>
            <a:r>
              <a:rPr kumimoji="1" lang="en-US" altLang="zh-CN" dirty="0"/>
              <a:t>4</a:t>
            </a:r>
            <a:r>
              <a:rPr kumimoji="1" lang="zh-CN" altLang="en-US" dirty="0"/>
              <a:t>个电压电流放大档位以获取不削顶失真的最大峰峰值，并给出串并联阻容感值等数据。</a:t>
            </a:r>
            <a:endParaRPr kumimoji="1" lang="en-US" altLang="zh-CN" dirty="0"/>
          </a:p>
          <a:p>
            <a:r>
              <a:rPr kumimoji="1" lang="zh-CN" altLang="en-US" dirty="0"/>
              <a:t>        功能</a:t>
            </a:r>
            <a:r>
              <a:rPr kumimoji="1" lang="en-US" altLang="zh-CN" dirty="0"/>
              <a:t>3</a:t>
            </a:r>
            <a:r>
              <a:rPr kumimoji="1" lang="zh-CN" altLang="en-US" dirty="0"/>
              <a:t>、</a:t>
            </a:r>
            <a:r>
              <a:rPr kumimoji="1" lang="en-US" altLang="zh-CN" dirty="0"/>
              <a:t>4</a:t>
            </a:r>
            <a:r>
              <a:rPr kumimoji="1" lang="zh-CN" altLang="en-US" dirty="0"/>
              <a:t>是单端口阻抗扫频测量和双端口波特图扫频测量，用户输入始末频率以及扫频密度，仪器将自动扫频测量并在结束后显示上传界面。上传时将启动</a:t>
            </a:r>
            <a:r>
              <a:rPr kumimoji="1" lang="en-US" altLang="zh-CN" dirty="0"/>
              <a:t>BLE</a:t>
            </a:r>
            <a:r>
              <a:rPr kumimoji="1" lang="zh-CN" altLang="en-US" dirty="0"/>
              <a:t>并将数据传到网页上进行可视化展示，</a:t>
            </a:r>
            <a:r>
              <a:rPr kumimoji="1" lang="en-US" altLang="zh-CN" dirty="0"/>
              <a:t>BLE</a:t>
            </a:r>
            <a:r>
              <a:rPr kumimoji="1" lang="zh-CN" altLang="en-US" dirty="0"/>
              <a:t>将在上传完毕后自动关闭以防影响测量。</a:t>
            </a:r>
            <a:endParaRPr kumimoji="1" lang="en-US" altLang="zh-CN" dirty="0"/>
          </a:p>
          <a:p>
            <a:r>
              <a:rPr kumimoji="1" lang="zh-CN" altLang="en-US" dirty="0"/>
              <a:t>        功能</a:t>
            </a:r>
            <a:r>
              <a:rPr kumimoji="1" lang="en-US" altLang="zh-CN" dirty="0"/>
              <a:t>5</a:t>
            </a:r>
            <a:r>
              <a:rPr kumimoji="1" lang="zh-CN" altLang="en-US" dirty="0"/>
              <a:t>是正弦信号发生，仪器将以确定按钮为输出启停按钮，按照用户输入的频率输出正弦波。</a:t>
            </a:r>
          </a:p>
        </p:txBody>
      </p:sp>
    </p:spTree>
    <p:extLst>
      <p:ext uri="{BB962C8B-B14F-4D97-AF65-F5344CB8AC3E}">
        <p14:creationId xmlns:p14="http://schemas.microsoft.com/office/powerpoint/2010/main" val="3108366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349DBEC0-53C7-C81C-D745-9BDD15C741B7}"/>
              </a:ext>
            </a:extLst>
          </p:cNvPr>
          <p:cNvPicPr>
            <a:picLocks noGrp="1" noChangeAspect="1"/>
          </p:cNvPicPr>
          <p:nvPr>
            <p:ph idx="1"/>
          </p:nvPr>
        </p:nvPicPr>
        <p:blipFill>
          <a:blip r:embed="rId2"/>
          <a:stretch>
            <a:fillRect/>
          </a:stretch>
        </p:blipFill>
        <p:spPr>
          <a:xfrm>
            <a:off x="0" y="0"/>
            <a:ext cx="12192000" cy="6858000"/>
          </a:xfrm>
        </p:spPr>
      </p:pic>
    </p:spTree>
    <p:extLst>
      <p:ext uri="{BB962C8B-B14F-4D97-AF65-F5344CB8AC3E}">
        <p14:creationId xmlns:p14="http://schemas.microsoft.com/office/powerpoint/2010/main" val="4289675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D0B0F4-0B78-D3CD-2F12-CC10CE5ADD35}"/>
              </a:ext>
            </a:extLst>
          </p:cNvPr>
          <p:cNvSpPr>
            <a:spLocks noGrp="1"/>
          </p:cNvSpPr>
          <p:nvPr>
            <p:ph type="title"/>
          </p:nvPr>
        </p:nvSpPr>
        <p:spPr>
          <a:xfrm>
            <a:off x="0" y="0"/>
            <a:ext cx="2823210" cy="697865"/>
          </a:xfrm>
        </p:spPr>
        <p:txBody>
          <a:bodyPr>
            <a:normAutofit fontScale="90000"/>
          </a:bodyPr>
          <a:lstStyle/>
          <a:p>
            <a:r>
              <a:rPr kumimoji="1" lang="zh-CN" altLang="en-US" dirty="0"/>
              <a:t>实测数据</a:t>
            </a:r>
            <a:r>
              <a:rPr kumimoji="1" lang="en-US" altLang="zh-CN" dirty="0"/>
              <a:t>-R</a:t>
            </a:r>
            <a:endParaRPr kumimoji="1" lang="zh-CN" altLang="en-US" dirty="0"/>
          </a:p>
        </p:txBody>
      </p:sp>
      <p:sp>
        <p:nvSpPr>
          <p:cNvPr id="11" name="文本框 10">
            <a:extLst>
              <a:ext uri="{FF2B5EF4-FFF2-40B4-BE49-F238E27FC236}">
                <a16:creationId xmlns:a16="http://schemas.microsoft.com/office/drawing/2014/main" id="{18E68D0B-0087-B24F-DBEC-696E0F997F9A}"/>
              </a:ext>
            </a:extLst>
          </p:cNvPr>
          <p:cNvSpPr txBox="1"/>
          <p:nvPr/>
        </p:nvSpPr>
        <p:spPr>
          <a:xfrm>
            <a:off x="0" y="697865"/>
            <a:ext cx="3429001" cy="2585323"/>
          </a:xfrm>
          <a:prstGeom prst="rect">
            <a:avLst/>
          </a:prstGeom>
          <a:noFill/>
        </p:spPr>
        <p:txBody>
          <a:bodyPr wrap="square" rtlCol="0">
            <a:spAutoFit/>
          </a:bodyPr>
          <a:lstStyle/>
          <a:p>
            <a:r>
              <a:rPr kumimoji="1" lang="en-US" altLang="zh-CN" dirty="0"/>
              <a:t>R</a:t>
            </a:r>
            <a:r>
              <a:rPr kumimoji="1" lang="zh-CN" altLang="en-US" dirty="0"/>
              <a:t>测量范围：</a:t>
            </a:r>
            <a:r>
              <a:rPr kumimoji="1" lang="en-US" altLang="zh-CN" dirty="0"/>
              <a:t>220</a:t>
            </a:r>
            <a:r>
              <a:rPr kumimoji="1" lang="zh-CN" altLang="en-US" dirty="0"/>
              <a:t>毫欧</a:t>
            </a:r>
            <a:r>
              <a:rPr kumimoji="1" lang="en-US" altLang="zh-CN" dirty="0"/>
              <a:t>-10</a:t>
            </a:r>
            <a:r>
              <a:rPr kumimoji="1" lang="zh-CN" altLang="en-US" dirty="0"/>
              <a:t>兆欧</a:t>
            </a:r>
            <a:endParaRPr kumimoji="1" lang="en-US" altLang="zh-CN" dirty="0"/>
          </a:p>
          <a:p>
            <a:r>
              <a:rPr kumimoji="1" lang="en-US" altLang="zh-CN" dirty="0"/>
              <a:t>R</a:t>
            </a:r>
            <a:r>
              <a:rPr kumimoji="1" lang="zh-CN" altLang="en-US" dirty="0"/>
              <a:t>误差：</a:t>
            </a:r>
            <a:endParaRPr kumimoji="1" lang="en-US" altLang="zh-CN" dirty="0"/>
          </a:p>
          <a:p>
            <a:r>
              <a:rPr kumimoji="1" lang="en-US" altLang="zh-CN" dirty="0"/>
              <a:t>100Hz</a:t>
            </a:r>
            <a:r>
              <a:rPr kumimoji="1" lang="zh-CN" altLang="en-US" dirty="0"/>
              <a:t> </a:t>
            </a:r>
            <a:r>
              <a:rPr kumimoji="1" lang="en-US" altLang="zh-CN" dirty="0"/>
              <a:t>1k-300k:±1%</a:t>
            </a:r>
          </a:p>
          <a:p>
            <a:r>
              <a:rPr kumimoji="1" lang="en-US" altLang="zh-CN" dirty="0"/>
              <a:t>100Hz</a:t>
            </a:r>
            <a:r>
              <a:rPr kumimoji="1" lang="zh-CN" altLang="en-US" dirty="0"/>
              <a:t> </a:t>
            </a:r>
            <a:r>
              <a:rPr kumimoji="1" lang="en-US" altLang="zh-CN" dirty="0"/>
              <a:t>47k-10M:±2%</a:t>
            </a:r>
          </a:p>
          <a:p>
            <a:r>
              <a:rPr kumimoji="1" lang="zh-CN" altLang="en-US" dirty="0"/>
              <a:t>大部分阻值和频率误差</a:t>
            </a:r>
            <a:r>
              <a:rPr kumimoji="1" lang="en-US" altLang="zh-CN" dirty="0"/>
              <a:t>±3%</a:t>
            </a:r>
            <a:r>
              <a:rPr kumimoji="1" lang="zh-CN" altLang="en-US" dirty="0"/>
              <a:t>以内，</a:t>
            </a:r>
            <a:endParaRPr kumimoji="1" lang="en-US" altLang="zh-CN" dirty="0"/>
          </a:p>
          <a:p>
            <a:r>
              <a:rPr kumimoji="1" lang="zh-CN" altLang="en-US" dirty="0"/>
              <a:t>大部分阻值和频率下相位差误差</a:t>
            </a:r>
            <a:r>
              <a:rPr kumimoji="1" lang="en-US" altLang="zh-CN" dirty="0"/>
              <a:t>±1°</a:t>
            </a:r>
            <a:r>
              <a:rPr kumimoji="1" lang="zh-CN" altLang="en-US" dirty="0"/>
              <a:t>以内。</a:t>
            </a:r>
            <a:endParaRPr kumimoji="1" lang="en-US" altLang="zh-CN" dirty="0"/>
          </a:p>
          <a:p>
            <a:r>
              <a:rPr kumimoji="1" lang="zh-CN" altLang="en-US" dirty="0"/>
              <a:t>对</a:t>
            </a:r>
            <a:r>
              <a:rPr kumimoji="1" lang="en-US" altLang="zh-CN" dirty="0"/>
              <a:t>R</a:t>
            </a:r>
            <a:r>
              <a:rPr kumimoji="1" lang="zh-CN" altLang="en-US" dirty="0"/>
              <a:t>的测量中，测量值与真实值均接近。</a:t>
            </a:r>
          </a:p>
        </p:txBody>
      </p:sp>
      <p:pic>
        <p:nvPicPr>
          <p:cNvPr id="13" name="图片 12">
            <a:extLst>
              <a:ext uri="{FF2B5EF4-FFF2-40B4-BE49-F238E27FC236}">
                <a16:creationId xmlns:a16="http://schemas.microsoft.com/office/drawing/2014/main" id="{5FDC3DE0-5B94-9E09-08BA-DEC60C0088B8}"/>
              </a:ext>
            </a:extLst>
          </p:cNvPr>
          <p:cNvPicPr>
            <a:picLocks noChangeAspect="1"/>
          </p:cNvPicPr>
          <p:nvPr/>
        </p:nvPicPr>
        <p:blipFill>
          <a:blip r:embed="rId2"/>
          <a:stretch>
            <a:fillRect/>
          </a:stretch>
        </p:blipFill>
        <p:spPr>
          <a:xfrm>
            <a:off x="3680460" y="-1"/>
            <a:ext cx="8511540" cy="5312759"/>
          </a:xfrm>
          <a:prstGeom prst="rect">
            <a:avLst/>
          </a:prstGeom>
        </p:spPr>
      </p:pic>
    </p:spTree>
    <p:extLst>
      <p:ext uri="{BB962C8B-B14F-4D97-AF65-F5344CB8AC3E}">
        <p14:creationId xmlns:p14="http://schemas.microsoft.com/office/powerpoint/2010/main" val="2386550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D0B0F4-0B78-D3CD-2F12-CC10CE5ADD35}"/>
              </a:ext>
            </a:extLst>
          </p:cNvPr>
          <p:cNvSpPr>
            <a:spLocks noGrp="1"/>
          </p:cNvSpPr>
          <p:nvPr>
            <p:ph type="title"/>
          </p:nvPr>
        </p:nvSpPr>
        <p:spPr>
          <a:xfrm>
            <a:off x="0" y="0"/>
            <a:ext cx="3348990" cy="697865"/>
          </a:xfrm>
        </p:spPr>
        <p:txBody>
          <a:bodyPr>
            <a:normAutofit fontScale="90000"/>
          </a:bodyPr>
          <a:lstStyle/>
          <a:p>
            <a:r>
              <a:rPr kumimoji="1" lang="zh-CN" altLang="en-US" dirty="0"/>
              <a:t>实测数据</a:t>
            </a:r>
            <a:r>
              <a:rPr kumimoji="1" lang="en-US" altLang="zh-CN" dirty="0"/>
              <a:t>-C/L</a:t>
            </a:r>
            <a:endParaRPr kumimoji="1" lang="zh-CN" altLang="en-US" dirty="0"/>
          </a:p>
        </p:txBody>
      </p:sp>
      <p:sp>
        <p:nvSpPr>
          <p:cNvPr id="11" name="文本框 10">
            <a:extLst>
              <a:ext uri="{FF2B5EF4-FFF2-40B4-BE49-F238E27FC236}">
                <a16:creationId xmlns:a16="http://schemas.microsoft.com/office/drawing/2014/main" id="{18E68D0B-0087-B24F-DBEC-696E0F997F9A}"/>
              </a:ext>
            </a:extLst>
          </p:cNvPr>
          <p:cNvSpPr txBox="1"/>
          <p:nvPr/>
        </p:nvSpPr>
        <p:spPr>
          <a:xfrm>
            <a:off x="0" y="697865"/>
            <a:ext cx="3345545" cy="4247317"/>
          </a:xfrm>
          <a:prstGeom prst="rect">
            <a:avLst/>
          </a:prstGeom>
          <a:noFill/>
        </p:spPr>
        <p:txBody>
          <a:bodyPr wrap="square" rtlCol="0">
            <a:spAutoFit/>
          </a:bodyPr>
          <a:lstStyle/>
          <a:p>
            <a:r>
              <a:rPr kumimoji="1" lang="en-US" altLang="zh-CN" dirty="0"/>
              <a:t>C</a:t>
            </a:r>
            <a:r>
              <a:rPr kumimoji="1" lang="zh-CN" altLang="en-US" dirty="0"/>
              <a:t>测量范围：</a:t>
            </a:r>
            <a:r>
              <a:rPr kumimoji="1" lang="en-US" altLang="zh-CN" dirty="0"/>
              <a:t>1pF-6.8mF</a:t>
            </a:r>
          </a:p>
          <a:p>
            <a:r>
              <a:rPr kumimoji="1" lang="en-US" altLang="zh-CN" dirty="0"/>
              <a:t>C</a:t>
            </a:r>
            <a:r>
              <a:rPr kumimoji="1" lang="zh-CN" altLang="en-US" dirty="0"/>
              <a:t>误差：</a:t>
            </a:r>
            <a:endParaRPr kumimoji="1" lang="en-US" altLang="zh-CN" dirty="0"/>
          </a:p>
          <a:p>
            <a:r>
              <a:rPr kumimoji="1" lang="en-US" altLang="zh-CN" dirty="0"/>
              <a:t>10-100Hz</a:t>
            </a:r>
            <a:r>
              <a:rPr kumimoji="1" lang="zh-CN" altLang="en-US" dirty="0"/>
              <a:t>下，</a:t>
            </a:r>
            <a:r>
              <a:rPr kumimoji="1" lang="en-US" altLang="zh-CN" dirty="0"/>
              <a:t>3pF-100uF</a:t>
            </a:r>
            <a:r>
              <a:rPr kumimoji="1" lang="zh-CN" altLang="en-US" dirty="0"/>
              <a:t>电容测量值均与标称值相差</a:t>
            </a:r>
            <a:r>
              <a:rPr kumimoji="1" lang="en-US" altLang="zh-CN" dirty="0"/>
              <a:t>10%</a:t>
            </a:r>
            <a:r>
              <a:rPr kumimoji="1" lang="zh-CN" altLang="en-US" dirty="0"/>
              <a:t>以内。</a:t>
            </a:r>
            <a:endParaRPr kumimoji="1" lang="en-US" altLang="zh-CN" dirty="0"/>
          </a:p>
          <a:p>
            <a:endParaRPr kumimoji="1" lang="en-US" altLang="zh-CN" dirty="0"/>
          </a:p>
          <a:p>
            <a:r>
              <a:rPr kumimoji="1" lang="en-US" altLang="zh-CN" dirty="0"/>
              <a:t>L</a:t>
            </a:r>
            <a:r>
              <a:rPr kumimoji="1" lang="zh-CN" altLang="en-US" dirty="0"/>
              <a:t>测量范围：</a:t>
            </a:r>
            <a:r>
              <a:rPr kumimoji="1" lang="en-US" altLang="zh-CN" dirty="0"/>
              <a:t>680nH-2H</a:t>
            </a:r>
          </a:p>
          <a:p>
            <a:r>
              <a:rPr kumimoji="1" lang="en-US" altLang="zh-CN" dirty="0"/>
              <a:t>L</a:t>
            </a:r>
            <a:r>
              <a:rPr kumimoji="1" lang="zh-CN" altLang="en-US" dirty="0"/>
              <a:t>误差：</a:t>
            </a:r>
            <a:endParaRPr kumimoji="1" lang="en-US" altLang="zh-CN" dirty="0"/>
          </a:p>
          <a:p>
            <a:r>
              <a:rPr kumimoji="1" lang="en-US" altLang="zh-CN" dirty="0"/>
              <a:t>10Hz</a:t>
            </a:r>
            <a:r>
              <a:rPr kumimoji="1" lang="zh-CN" altLang="en-US" dirty="0"/>
              <a:t>下，电感直流电阻与万用表直流测试基本一致。</a:t>
            </a:r>
            <a:endParaRPr kumimoji="1" lang="en-US" altLang="zh-CN" dirty="0"/>
          </a:p>
          <a:p>
            <a:r>
              <a:rPr kumimoji="1" lang="en-US" altLang="zh-CN" dirty="0"/>
              <a:t>10kHz</a:t>
            </a:r>
            <a:r>
              <a:rPr kumimoji="1" lang="zh-CN" altLang="en-US" dirty="0"/>
              <a:t>下，</a:t>
            </a:r>
            <a:r>
              <a:rPr kumimoji="1" lang="en-US" altLang="zh-CN" dirty="0"/>
              <a:t>5.6uH-100mH</a:t>
            </a:r>
            <a:r>
              <a:rPr kumimoji="1" lang="zh-CN" altLang="en-US" dirty="0"/>
              <a:t>电感测量值均与标称值相差</a:t>
            </a:r>
            <a:r>
              <a:rPr kumimoji="1" lang="en-US" altLang="zh-CN" dirty="0"/>
              <a:t>10%</a:t>
            </a:r>
            <a:r>
              <a:rPr kumimoji="1" lang="zh-CN" altLang="en-US" dirty="0"/>
              <a:t>以内。</a:t>
            </a:r>
            <a:endParaRPr kumimoji="1" lang="en-US" altLang="zh-CN" dirty="0"/>
          </a:p>
          <a:p>
            <a:endParaRPr kumimoji="1" lang="en-US" altLang="zh-CN" dirty="0"/>
          </a:p>
          <a:p>
            <a:r>
              <a:rPr kumimoji="1" lang="zh-CN" altLang="en-US" dirty="0"/>
              <a:t>对</a:t>
            </a:r>
            <a:r>
              <a:rPr kumimoji="1" lang="en-US" altLang="zh-CN" dirty="0"/>
              <a:t>L/C</a:t>
            </a:r>
            <a:r>
              <a:rPr kumimoji="1" lang="zh-CN" altLang="en-US" dirty="0"/>
              <a:t>的测量，除相位差过小或阻抗模长过大</a:t>
            </a:r>
            <a:r>
              <a:rPr kumimoji="1" lang="en-US" altLang="zh-CN"/>
              <a:t>/</a:t>
            </a:r>
            <a:r>
              <a:rPr kumimoji="1" lang="zh-CN" altLang="en-US"/>
              <a:t>过</a:t>
            </a:r>
            <a:r>
              <a:rPr kumimoji="1" lang="zh-CN" altLang="en-US" dirty="0"/>
              <a:t>小的数据外，测量值与标称值均接近。</a:t>
            </a:r>
          </a:p>
        </p:txBody>
      </p:sp>
      <p:pic>
        <p:nvPicPr>
          <p:cNvPr id="4" name="图片 3">
            <a:extLst>
              <a:ext uri="{FF2B5EF4-FFF2-40B4-BE49-F238E27FC236}">
                <a16:creationId xmlns:a16="http://schemas.microsoft.com/office/drawing/2014/main" id="{CD9888CF-065A-1A3D-CFCF-D9361815EC85}"/>
              </a:ext>
            </a:extLst>
          </p:cNvPr>
          <p:cNvPicPr>
            <a:picLocks noChangeAspect="1"/>
          </p:cNvPicPr>
          <p:nvPr/>
        </p:nvPicPr>
        <p:blipFill>
          <a:blip r:embed="rId2"/>
          <a:stretch>
            <a:fillRect/>
          </a:stretch>
        </p:blipFill>
        <p:spPr>
          <a:xfrm>
            <a:off x="3345545" y="0"/>
            <a:ext cx="8846455" cy="4069080"/>
          </a:xfrm>
          <a:prstGeom prst="rect">
            <a:avLst/>
          </a:prstGeom>
        </p:spPr>
      </p:pic>
      <p:sp>
        <p:nvSpPr>
          <p:cNvPr id="5" name="文本框 4">
            <a:extLst>
              <a:ext uri="{FF2B5EF4-FFF2-40B4-BE49-F238E27FC236}">
                <a16:creationId xmlns:a16="http://schemas.microsoft.com/office/drawing/2014/main" id="{E144197F-4BE5-C3A8-C42F-5ADD51776031}"/>
              </a:ext>
            </a:extLst>
          </p:cNvPr>
          <p:cNvSpPr txBox="1"/>
          <p:nvPr/>
        </p:nvSpPr>
        <p:spPr>
          <a:xfrm>
            <a:off x="790941" y="5170904"/>
            <a:ext cx="5612130" cy="1477328"/>
          </a:xfrm>
          <a:prstGeom prst="rect">
            <a:avLst/>
          </a:prstGeom>
          <a:noFill/>
        </p:spPr>
        <p:txBody>
          <a:bodyPr wrap="square" rtlCol="0">
            <a:spAutoFit/>
          </a:bodyPr>
          <a:lstStyle/>
          <a:p>
            <a:r>
              <a:rPr kumimoji="1" lang="zh-CN" altLang="en-US" dirty="0"/>
              <a:t>本仪器可以测量电容容量随频率的变化趋势。右图为测得相近容量的</a:t>
            </a:r>
            <a:r>
              <a:rPr kumimoji="1" lang="en-US" altLang="zh-CN" dirty="0"/>
              <a:t>4</a:t>
            </a:r>
            <a:r>
              <a:rPr kumimoji="1" lang="zh-CN" altLang="en-US" dirty="0"/>
              <a:t>个电容（除</a:t>
            </a:r>
            <a:r>
              <a:rPr kumimoji="1" lang="en-US" altLang="zh-CN" dirty="0"/>
              <a:t>CBB</a:t>
            </a:r>
            <a:r>
              <a:rPr kumimoji="1" lang="zh-CN" altLang="en-US" dirty="0"/>
              <a:t>为</a:t>
            </a:r>
            <a:r>
              <a:rPr kumimoji="1" lang="en-US" altLang="zh-CN" dirty="0"/>
              <a:t>155</a:t>
            </a:r>
            <a:r>
              <a:rPr kumimoji="1" lang="zh-CN" altLang="en-US" dirty="0"/>
              <a:t>外均为</a:t>
            </a:r>
            <a:r>
              <a:rPr kumimoji="1" lang="en-US" altLang="zh-CN" dirty="0"/>
              <a:t>105</a:t>
            </a:r>
            <a:r>
              <a:rPr kumimoji="1" lang="zh-CN" altLang="en-US" dirty="0"/>
              <a:t>）剩余容量随频率的变化趋势。由图可知，容量稳定性从高到低排序为</a:t>
            </a:r>
            <a:r>
              <a:rPr kumimoji="1" lang="en-US" altLang="zh-CN" dirty="0"/>
              <a:t>CBB</a:t>
            </a:r>
            <a:r>
              <a:rPr kumimoji="1" lang="zh-CN" altLang="en-US" dirty="0"/>
              <a:t>，独石电容</a:t>
            </a:r>
            <a:r>
              <a:rPr kumimoji="1" lang="en-US" altLang="zh-CN" dirty="0"/>
              <a:t>2</a:t>
            </a:r>
            <a:r>
              <a:rPr kumimoji="1" lang="zh-CN" altLang="en-US" dirty="0"/>
              <a:t>，有极性电解电容，独石电容</a:t>
            </a:r>
            <a:r>
              <a:rPr kumimoji="1" lang="en-US" altLang="zh-CN" dirty="0"/>
              <a:t>1</a:t>
            </a:r>
            <a:r>
              <a:rPr kumimoji="1" lang="zh-CN" altLang="en-US" dirty="0"/>
              <a:t>。</a:t>
            </a:r>
          </a:p>
        </p:txBody>
      </p:sp>
      <p:pic>
        <p:nvPicPr>
          <p:cNvPr id="9" name="图片 8">
            <a:extLst>
              <a:ext uri="{FF2B5EF4-FFF2-40B4-BE49-F238E27FC236}">
                <a16:creationId xmlns:a16="http://schemas.microsoft.com/office/drawing/2014/main" id="{5761CBA4-7549-6C7E-B699-0B09C02292C1}"/>
              </a:ext>
            </a:extLst>
          </p:cNvPr>
          <p:cNvPicPr>
            <a:picLocks noChangeAspect="1"/>
          </p:cNvPicPr>
          <p:nvPr/>
        </p:nvPicPr>
        <p:blipFill>
          <a:blip r:embed="rId3"/>
          <a:stretch>
            <a:fillRect/>
          </a:stretch>
        </p:blipFill>
        <p:spPr>
          <a:xfrm>
            <a:off x="8021413" y="4069080"/>
            <a:ext cx="4170587" cy="2788920"/>
          </a:xfrm>
          <a:prstGeom prst="rect">
            <a:avLst/>
          </a:prstGeom>
        </p:spPr>
      </p:pic>
    </p:spTree>
    <p:extLst>
      <p:ext uri="{BB962C8B-B14F-4D97-AF65-F5344CB8AC3E}">
        <p14:creationId xmlns:p14="http://schemas.microsoft.com/office/powerpoint/2010/main" val="2962781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D59AE-78C9-73CA-1376-F7C852808ADD}"/>
              </a:ext>
            </a:extLst>
          </p:cNvPr>
          <p:cNvSpPr>
            <a:spLocks noGrp="1"/>
          </p:cNvSpPr>
          <p:nvPr>
            <p:ph type="title"/>
          </p:nvPr>
        </p:nvSpPr>
        <p:spPr>
          <a:xfrm>
            <a:off x="0" y="18255"/>
            <a:ext cx="5657850" cy="941865"/>
          </a:xfrm>
        </p:spPr>
        <p:txBody>
          <a:bodyPr/>
          <a:lstStyle/>
          <a:p>
            <a:r>
              <a:rPr kumimoji="1" lang="zh-CN" altLang="en-US" dirty="0"/>
              <a:t>实测数据</a:t>
            </a:r>
            <a:r>
              <a:rPr kumimoji="1" lang="en-US" altLang="zh-CN" dirty="0"/>
              <a:t>-</a:t>
            </a:r>
            <a:r>
              <a:rPr kumimoji="1" lang="zh-CN" altLang="en-US" dirty="0"/>
              <a:t>波特图测量</a:t>
            </a:r>
          </a:p>
        </p:txBody>
      </p:sp>
      <p:pic>
        <p:nvPicPr>
          <p:cNvPr id="9" name="图片 8">
            <a:extLst>
              <a:ext uri="{FF2B5EF4-FFF2-40B4-BE49-F238E27FC236}">
                <a16:creationId xmlns:a16="http://schemas.microsoft.com/office/drawing/2014/main" id="{CD74BB1B-5025-42A0-65DE-E77DB5CBD6D5}"/>
              </a:ext>
            </a:extLst>
          </p:cNvPr>
          <p:cNvPicPr>
            <a:picLocks noChangeAspect="1"/>
          </p:cNvPicPr>
          <p:nvPr/>
        </p:nvPicPr>
        <p:blipFill>
          <a:blip r:embed="rId2"/>
          <a:stretch>
            <a:fillRect/>
          </a:stretch>
        </p:blipFill>
        <p:spPr>
          <a:xfrm>
            <a:off x="1017270" y="836138"/>
            <a:ext cx="10408920" cy="5855018"/>
          </a:xfrm>
          <a:prstGeom prst="rect">
            <a:avLst/>
          </a:prstGeom>
        </p:spPr>
      </p:pic>
    </p:spTree>
    <p:extLst>
      <p:ext uri="{BB962C8B-B14F-4D97-AF65-F5344CB8AC3E}">
        <p14:creationId xmlns:p14="http://schemas.microsoft.com/office/powerpoint/2010/main" val="109841255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TotalTime>
  <Words>688</Words>
  <Application>Microsoft Macintosh PowerPoint</Application>
  <PresentationFormat>宽屏</PresentationFormat>
  <Paragraphs>43</Paragraphs>
  <Slides>8</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vt:i4>
      </vt:variant>
    </vt:vector>
  </HeadingPairs>
  <TitlesOfParts>
    <vt:vector size="12" baseType="lpstr">
      <vt:lpstr>等线</vt:lpstr>
      <vt:lpstr>等线 Light</vt:lpstr>
      <vt:lpstr>Arial</vt:lpstr>
      <vt:lpstr>Office 主题​​</vt:lpstr>
      <vt:lpstr>多功能LCR测量仪</vt:lpstr>
      <vt:lpstr>作品简介</vt:lpstr>
      <vt:lpstr>功能介绍</vt:lpstr>
      <vt:lpstr>功能介绍</vt:lpstr>
      <vt:lpstr>PowerPoint 演示文稿</vt:lpstr>
      <vt:lpstr>实测数据-R</vt:lpstr>
      <vt:lpstr>实测数据-C/L</vt:lpstr>
      <vt:lpstr>实测数据-波特图测量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多功能LCR测量仪</dc:title>
  <dc:creator>根 小</dc:creator>
  <cp:lastModifiedBy>根 小</cp:lastModifiedBy>
  <cp:revision>60</cp:revision>
  <dcterms:created xsi:type="dcterms:W3CDTF">2026-09-18T08:22:21Z</dcterms:created>
  <dcterms:modified xsi:type="dcterms:W3CDTF">2026-09-18T13:19:16Z</dcterms:modified>
</cp:coreProperties>
</file>